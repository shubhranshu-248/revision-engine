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34440"/>
            <a:ext cx="10698480" cy="1600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5400" b="1">
                <a:solidFill>
                  <a:srgbClr val="F4B82E"/>
                </a:solidFill>
                <a:latin typeface="Arial Black"/>
              </a:rPr>
              <a:t>CHEMICAL REACTIONS
AND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0">
                <a:solidFill>
                  <a:srgbClr val="C9CCD2"/>
                </a:solidFill>
                <a:latin typeface="Calibri"/>
              </a:rPr>
              <a:t>Class X   ·   CBSE Science   ·   Chapter 1</a:t>
            </a:r>
          </a:p>
        </p:txBody>
      </p:sp>
      <p:pic>
        <p:nvPicPr>
          <p:cNvPr id="8" name="Picture 7" descr="photo.png">
            <a:extLst>
              <a:ext uri="{FF2B5EF4-FFF2-40B4-BE49-F238E27FC236}">
                <a16:creationId xmlns:a16="http://schemas.microsoft.com/office/drawing/2014/main" id="{5158031F-3D71-CF95-6FB0-BDFE356EB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029" y="3602163"/>
            <a:ext cx="3255837" cy="32558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0B0211-7867-A5C6-4B7A-F7D7BBD85758}"/>
              </a:ext>
            </a:extLst>
          </p:cNvPr>
          <p:cNvSpPr txBox="1"/>
          <p:nvPr/>
        </p:nvSpPr>
        <p:spPr>
          <a:xfrm>
            <a:off x="3469196" y="6400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 dirty="0">
                <a:solidFill>
                  <a:srgbClr val="FFFFFF"/>
                </a:solidFill>
                <a:latin typeface="Calibri"/>
              </a:rPr>
              <a:t>- Shubhranshu Sahu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Let's Rewind and Recall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Physical vs Chemical Change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Physical change:  </a:t>
            </a:r>
            <a:r>
              <a:rPr sz="1400" b="0">
                <a:solidFill>
                  <a:srgbClr val="FFFFFF"/>
                </a:solidFill>
                <a:latin typeface="Calibri"/>
              </a:rPr>
              <a:t>no new substance; often reversible (melting ice, dissolving sugar).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Chemical change:  </a:t>
            </a:r>
            <a:r>
              <a:rPr sz="1400" b="0">
                <a:solidFill>
                  <a:srgbClr val="FFFFFF"/>
                </a:solidFill>
                <a:latin typeface="Calibri"/>
              </a:rPr>
              <a:t>a new substance with new properties is formed (rusting, cooking, respiration).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Element, Compound, Mixture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Element = one kind of atom; compound = 2+ elements chemically combined in a fixed ratio.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Symbols &amp; Formulae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H₂O, CO₂, CaCO₃, H₂SO₄ — subscripts = number of atoms; charges are superscripts (Na⁺, SO₄²⁻).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93776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Valency &amp; Formula Writing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Criss-cross rule:  </a:t>
            </a:r>
            <a:r>
              <a:rPr sz="1400" b="0">
                <a:solidFill>
                  <a:srgbClr val="FFFFFF"/>
                </a:solidFill>
                <a:latin typeface="Calibri"/>
              </a:rPr>
              <a:t>swap valencies to write a formula.  Ca²⁺ + Cl⁻  →  CaCl₂.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Common ions to know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Na⁺, K⁺, Ca²⁺, Al³⁺, Cl⁻, O²⁻, OH⁻, NO₃⁻, SO₄²⁻, CO₃²⁻.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Law of Conservation of Mass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Mass is neither created nor destroyed in a chemical reaction — the reason we balance equations.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Remember: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Total mass of reactants  =  total mass of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What is a Chemical Reaction?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process in which one or more substances (reactants) change into one or more new substances (products) with different properties.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Example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Magnesium burns in air: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2Mg(s) + O₂(g)  →  2MgO(s)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Clean the Mg ribbon with sandpaper first to remove the protective oxide layer so it burns readily.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How to Spot a Reaction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① Change in colour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white AgCl turns grey in light.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② Change in state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solid wax melts then burns.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③ Change in temperature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quick lime + water gets hot.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④ Evolution of a gas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Zn + acid gives H₂ bubbles.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⑤ Formation of a precipitate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an insoluble solid appears.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Chemical Equations &amp; Their Symbols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Skeletal  →  Balanced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Reactants on the left, products on the right, joined by an arrow → pointing to the products.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Skeletal (unbalanced):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Zn + HCl  →  ZnCl₂ + H₂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Balanced: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Zn + 2HCl  →  ZnCl₂ + H₂↑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balanced equation obeys the Law of Conservation of Mass.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Symbols You Must Use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(s), (l), (g)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solid, liquid, gas states.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(aq)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aqueous (dissolved in water).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↑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gas released;   </a:t>
            </a:r>
            <a:r>
              <a:rPr sz="1400" b="1">
                <a:solidFill>
                  <a:srgbClr val="FFD166"/>
                </a:solidFill>
                <a:latin typeface="Calibri"/>
              </a:rPr>
              <a:t>↓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precipitate formed.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Δ (heat)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condition written above the arrow.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⇌ 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reversible reaction.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Example:</a:t>
            </a:r>
          </a:p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3Fe(s) + 4H₂O(g)  →  Fe₃O₄(s) + 4H₂(g)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Balancing a Chemical Equation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Hit-and-Trial Method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Write the correct skeletal equation.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Start with the compound having the most atoms.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Balance atoms one element at a time using coefficients.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Balance hydrogen and oxygen last.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5.  Check both sides are equal; add state symbols.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Never change a formula (its subscripts) to balance — only change the coefficients in front.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Worked Example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Cambria Math"/>
              </a:rPr>
              <a:t>Fe + H₂O  →  Fe₃O₄ + H₂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mbria Math"/>
              </a:rPr>
              <a:t>Balance Fe:  3Fe + H₂O → Fe₃O₄ + H₂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mbria Math"/>
              </a:rPr>
              <a:t>Balance O:  3Fe + 4H₂O → Fe₃O₄ + H₂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mbria Math"/>
              </a:rPr>
              <a:t>Balance H:  3Fe + 4H₂O → Fe₃O₄ + 4H₂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Balanced: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3Fe(s) + 4H₂O(g)  →  Fe₃O₄(s) + 4H₂(g)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9BE08A"/>
                </a:solidFill>
                <a:latin typeface="Calibri"/>
              </a:rPr>
              <a:t>Check:  Fe 3=3,  H 8=8,  O 4=4 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Combination Reactions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Two or more reactants combine to form a single product.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D166"/>
                </a:solidFill>
                <a:latin typeface="Cambria Math"/>
              </a:rPr>
              <a:t>A + B  →  AB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Slaking of lime (exothermic):</a:t>
            </a:r>
          </a:p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CaO(s) + H₂O(l) → Ca(OH)₂(aq) + heat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Quick lime CaO + water → slaked lime Ca(OH)₂, used to whitewash walls.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More Examples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Burning of coal: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mbria Math"/>
              </a:rPr>
              <a:t>C(s) + O₂(g) → CO₂(g)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Formation of water: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mbria Math"/>
              </a:rPr>
              <a:t>2H₂(g) + O₂(g) → 2H₂O(l)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Burning of magnesium:</a:t>
            </a:r>
          </a:p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mbria Math"/>
              </a:rPr>
              <a:t>2Mg(s) + O₂(g) → 2MgO(s)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Note: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Most combination reactions release heat, so they are exothermic.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Decomposition Reactions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80644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37960" y="1325880"/>
            <a:ext cx="51023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3492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single reactant breaks down into two or more products.   AB → A + B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Thermal (heat, Δ):</a:t>
            </a:r>
          </a:p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CaCO₃(s)  →Δ→  CaO(s) + CO₂(g)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mbria Math"/>
              </a:rPr>
              <a:t>2FeSO₄(s) →Δ→ Fe₂O₃(s)+SO₂(g)+SO₃(g)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Photolytic (light):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2AgCl(s)  →light→  2Ag(s) + Cl₂(g)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Electrolytic (electricity):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2H₂O(l)  →elec.→  2H₂(g) + O₂(g)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Decomposition is the opposite of combination and is usually endothermic.</a:t>
            </a:r>
          </a:p>
        </p:txBody>
      </p:sp>
      <p:pic>
        <p:nvPicPr>
          <p:cNvPr id="7" name="Picture 6" descr="electrolysi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00200"/>
            <a:ext cx="4736592" cy="34784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5760720"/>
            <a:ext cx="47548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H₂ (cathode) : O₂ (anode)  =  2 : 1 by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Displacement Reactions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more reactive element displaces a less reactive element from its compound.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D166"/>
                </a:solidFill>
                <a:latin typeface="Cambria Math"/>
              </a:rPr>
              <a:t>A + BC  →  AC + B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Iron nail in copper sulphate: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Fe(s)+CuSO₄(aq) → FeSO₄(aq)+Cu(s)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Colour:  </a:t>
            </a:r>
            <a:r>
              <a:rPr sz="1400" b="0">
                <a:solidFill>
                  <a:srgbClr val="FFFFFF"/>
                </a:solidFill>
                <a:latin typeface="Calibri"/>
              </a:rPr>
              <a:t>blue solution fades to pale green; brown Cu deposits on the nail.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Reactivity Decides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Zn(s)+CuSO₄(aq) → ZnSO₄(aq)+Cu(s)</a:t>
            </a:r>
          </a:p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Pb(s)+CuCl₂(aq) → PbCl₂(aq)+Cu(s)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Reactivity order (high → low):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K &gt; Na &gt; Ca &gt; Mg &gt; Al &gt; Zn &gt; Fe &gt; Pb &gt; (H) &gt; Cu &gt; Ag &gt; Au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Cu cannot displace Zn or Fe; but Zn and Fe can displace Cu — always check the series.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Double Displacement &amp; Precipitation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Two compounds exchange their ions to form two new compounds.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D166"/>
                </a:solidFill>
                <a:latin typeface="Cambria Math"/>
              </a:rPr>
              <a:t>AB + CD  →  AD + CB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Precipitation reaction: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Na₂SO₄(aq) + BaCl₂(aq) →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BaSO₄(s)↓ + 2NaCl(aq)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White precipitate:  </a:t>
            </a:r>
            <a:r>
              <a:rPr sz="1400" b="0">
                <a:solidFill>
                  <a:srgbClr val="FFFFFF"/>
                </a:solidFill>
                <a:latin typeface="Calibri"/>
              </a:rPr>
              <a:t>insoluble BaSO₄.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Precipitate = insoluble solid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precipitate is an insoluble solid formed when two solutions are mixed.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Another example:</a:t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AgNO₃(aq) + NaCl(aq) →</a:t>
            </a:r>
          </a:p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AgCl(s)↓ + NaNO₃(aq)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Every precipitation reaction is a double displacement reaction (ions are exchanged).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Oxidation, Reduction &amp; Redox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Oxidation:  </a:t>
            </a:r>
            <a:r>
              <a:rPr sz="1400" b="0">
                <a:solidFill>
                  <a:srgbClr val="FFFFFF"/>
                </a:solidFill>
                <a:latin typeface="Calibri"/>
              </a:rPr>
              <a:t>gain of oxygen OR loss of hydrogen.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Reduction:  </a:t>
            </a:r>
            <a:r>
              <a:rPr sz="1400" b="0">
                <a:solidFill>
                  <a:srgbClr val="FFFFFF"/>
                </a:solidFill>
                <a:latin typeface="Calibri"/>
              </a:rPr>
              <a:t>loss of oxygen OR gain of hydrogen.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Redox reaction: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CuO(s) + H₂(g)  →Δ→  Cu(s) + H₂O(l)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CuO is reduced (loses O);  H₂ is oxidised (gains O).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Oxidation and reduction always occur together — one substance is oxidised, the other reduced.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More Redox Examples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ZnO(s) + C(s)  →  Zn(s) + CO(g)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ZnO reduced;  C oxidised.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mbria Math"/>
              </a:rPr>
              <a:t>MnO₂ + 4HCl →Δ→ MnCl₂ + 2H₂O + Cl₂</a:t>
            </a:r>
          </a:p>
          <a:p>
            <a:pPr algn="ctr">
              <a:spcAft>
                <a:spcPts val="100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MnO₂ reduced;  HCl oxidised.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Oxidising agent:  </a:t>
            </a:r>
            <a:r>
              <a:rPr sz="1400" b="0">
                <a:solidFill>
                  <a:srgbClr val="FFFFFF"/>
                </a:solidFill>
                <a:latin typeface="Calibri"/>
              </a:rPr>
              <a:t>supplies O / removes H (gets reduced).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Reducing agent:  </a:t>
            </a:r>
            <a:r>
              <a:rPr sz="1400" b="0">
                <a:solidFill>
                  <a:srgbClr val="FFFFFF"/>
                </a:solidFill>
                <a:latin typeface="Calibri"/>
              </a:rPr>
              <a:t>removes O / supplies H (gets oxidised).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Effects of Oxidation in Daily Life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Corrosion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slow eating-up of a metal by air, moisture, acids etc.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Rusting of iron:  </a:t>
            </a:r>
            <a:r>
              <a:rPr sz="1400" b="0">
                <a:solidFill>
                  <a:srgbClr val="FFFFFF"/>
                </a:solidFill>
                <a:latin typeface="Calibri"/>
              </a:rPr>
              <a:t>reddish-brown Fe₂O₃·xH₂O (needs both O₂ and water).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Silver:  </a:t>
            </a:r>
            <a:r>
              <a:rPr sz="1400" b="0">
                <a:solidFill>
                  <a:srgbClr val="FFFFFF"/>
                </a:solidFill>
                <a:latin typeface="Calibri"/>
              </a:rPr>
              <a:t>black coat (Ag₂S).   </a:t>
            </a:r>
            <a:r>
              <a:rPr sz="1400" b="1">
                <a:solidFill>
                  <a:srgbClr val="FFD166"/>
                </a:solidFill>
                <a:latin typeface="Calibri"/>
              </a:rPr>
              <a:t>Copper:  </a:t>
            </a:r>
            <a:r>
              <a:rPr sz="1400" b="0">
                <a:solidFill>
                  <a:srgbClr val="FFFFFF"/>
                </a:solidFill>
                <a:latin typeface="Calibri"/>
              </a:rPr>
              <a:t>green coat.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Prevention: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Painting, oiling, greasing, galvanisation (zinc coat), chrome-plating, alloying.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Rancidity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Oxidation of fats and oils in food, giving a bad smell and taste.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How to prevent it: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Add antioxidants.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Flush the packet with nitrogen (as in chips packets).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Store food in airtight containers.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Refrigerate the food.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N₂ is used because it is unreactive and keeps out O₂.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Exothermic &amp; Endothermic Reactions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Exothermic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Heat is released to the surroundings (products become warm).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Respiration:</a:t>
            </a:r>
          </a:p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mbria Math"/>
              </a:rPr>
              <a:t>C₆H₁₂O₆ + 6O₂ → 6CO₂ + 6H₂O + energy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Burning of natural gas;  CaO + water.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Decomposition of vegetable matter into compost.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Remember: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Most combination reactions are exothermic.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Endothermic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Heat is absorbed from the surroundings (the mixture becomes cold).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Examples: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Decomposition of calcium carbonate on heating.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Dissolving ammonium chloride in water.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Electrolysis of water.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Most decomposition reactions are endothermic (they need heat, light or electricity).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Important Results &amp; Common Traps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Must-Know Results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Balance by changing coefficients, never subscripts.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Rusting needs BOTH air (O₂) and water.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Galvanisation = coating iron with zinc.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Photography uses AgBr / AgCl (photolysis).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Precipitation is a type of double displacement.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Oxidising agent gets reduced; reducing agent gets oxidised.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Common Traps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Trap 1  </a:t>
            </a:r>
            <a:r>
              <a:rPr sz="1400" b="0">
                <a:solidFill>
                  <a:srgbClr val="FFFFFF"/>
                </a:solidFill>
                <a:latin typeface="Calibri"/>
              </a:rPr>
              <a:t>H₂O → H₂ + O₂ is wrong; it must be 2H₂O → 2H₂ + O₂.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Trap 2  </a:t>
            </a:r>
            <a:r>
              <a:rPr sz="1400" b="0">
                <a:solidFill>
                  <a:srgbClr val="FFFFFF"/>
                </a:solidFill>
                <a:latin typeface="Calibri"/>
              </a:rPr>
              <a:t>Cu does NOT react with dilute HCl or H₂SO₄ (it is below H in the series).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Trap 3  </a:t>
            </a:r>
            <a:r>
              <a:rPr sz="1400" b="0">
                <a:solidFill>
                  <a:srgbClr val="FFFFFF"/>
                </a:solidFill>
                <a:latin typeface="Calibri"/>
              </a:rPr>
              <a:t>Add acid to water, never water to acid — dilution is highly exothermic.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Trap 4  </a:t>
            </a:r>
            <a:r>
              <a:rPr sz="1400" b="0">
                <a:solidFill>
                  <a:srgbClr val="FFFFFF"/>
                </a:solidFill>
                <a:latin typeface="Calibri"/>
              </a:rPr>
              <a:t>Green FeSO₄ on heating gives brown Fe₂O₃ and a smell of burning sulphur.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4B82E"/>
                </a:solidFill>
                <a:latin typeface="Arial Black"/>
              </a:rPr>
              <a:t>60-Second Recall  &amp;  Quick-Fire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45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07492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60-Second Recall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Five signs of a reaction: colour, state, temperature, gas, precipitate.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Types: combination, decomposition, displacement, double displacement, redox.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Decomposition = thermal / photolytic / electrolytic.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Corrosion (rusting) and rancidity are effects of oxidation.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Exothermic releases heat; endothermic absorbs heat.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709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Quick-Fire Questions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 Balance:  Al + O₂ → Al₂O₃.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 Name the gas at the cathode in electrolysis of water.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 Why is AgCl stored in dark-coloured bottles?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 Identify the type:  BaCl₂ + Na₂SO₄ → BaSO₄ + NaCl.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5.  In CuO + H₂ → Cu + H₂O, which is the reducing agent?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D166"/>
                </a:solidFill>
                <a:latin typeface="Calibri"/>
              </a:rPr>
              <a:t>Try these before you flip to the worksheet!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0664" y="2121408"/>
            <a:ext cx="10698480" cy="2606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0" b="1">
                <a:solidFill>
                  <a:srgbClr val="F4B82E"/>
                </a:solidFill>
                <a:latin typeface="Arial Black"/>
              </a:rPr>
              <a:t>THANK</a:t>
            </a:r>
          </a:p>
          <a:p>
            <a:pPr algn="ctr">
              <a:spcAft>
                <a:spcPts val="300"/>
              </a:spcAft>
            </a:pPr>
            <a:r>
              <a:rPr sz="8000" b="1">
                <a:solidFill>
                  <a:srgbClr val="F4B82E"/>
                </a:solidFill>
                <a:latin typeface="Arial Black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1972</Words>
  <Application>Microsoft Office PowerPoint</Application>
  <PresentationFormat>Widescreen</PresentationFormat>
  <Paragraphs>204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Shubhranshu Sahu</cp:lastModifiedBy>
  <cp:revision>2</cp:revision>
  <dcterms:created xsi:type="dcterms:W3CDTF">2013-01-27T09:14:16Z</dcterms:created>
  <dcterms:modified xsi:type="dcterms:W3CDTF">2026-08-08T04:02:43Z</dcterms:modified>
  <cp:category/>
</cp:coreProperties>
</file>