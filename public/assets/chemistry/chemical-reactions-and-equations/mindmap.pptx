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0" y="91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B82E"/>
                </a:solidFill>
                <a:latin typeface="Calibri"/>
              </a:rPr>
              <a:t>Chemical Reactions and Equations  —  Mind Map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4892040" y="1348740"/>
            <a:ext cx="64008" cy="2080260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27432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Change in colour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2514600" y="576072"/>
            <a:ext cx="228600" cy="772668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" y="100584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Change in state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2514600" y="1307592"/>
            <a:ext cx="228600" cy="41148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" y="173736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Change in temperature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514600" y="1348740"/>
            <a:ext cx="228600" cy="690372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246888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Evolution of a gas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14600" y="1348740"/>
            <a:ext cx="228600" cy="1421892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" y="320040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Formation of a precipitate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514600" y="1348740"/>
            <a:ext cx="228600" cy="2153412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9601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3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Signs of a Reaction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242048" y="1348740"/>
            <a:ext cx="54864" cy="2080260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74352" y="27432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Law of conservation of mass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445752" y="576072"/>
            <a:ext cx="228600" cy="772668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74352" y="100584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Change coefficients, not formulae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9445752" y="1307592"/>
            <a:ext cx="228600" cy="41148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74352" y="173736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Start with the biggest molecule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45752" y="1348740"/>
            <a:ext cx="228600" cy="690372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74352" y="246888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Balance H and O last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45752" y="1348740"/>
            <a:ext cx="228600" cy="1421892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96912" y="9601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Balancing Rules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892040" y="3429000"/>
            <a:ext cx="64008" cy="2034540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4320" y="389534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Reactants  →  Products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2514600" y="4197096"/>
            <a:ext cx="228600" cy="1266444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74320" y="462686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Skeletal  vs  balanced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514600" y="4928616"/>
            <a:ext cx="228600" cy="534924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74320" y="5358383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State symbols (s)(l)(g)(aq)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14600" y="5463540"/>
            <a:ext cx="228600" cy="196596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74320" y="608990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↑ gas · ↓ precipitate · Δ heat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514600" y="5463540"/>
            <a:ext cx="228600" cy="928116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743200" y="50749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8A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Chemical Equations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242048" y="3429000"/>
            <a:ext cx="54864" cy="2034540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674352" y="389534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Exothermic → releases heat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9445752" y="4197096"/>
            <a:ext cx="228600" cy="1266444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74352" y="462686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Respiration is exothermic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9445752" y="4928616"/>
            <a:ext cx="228600" cy="534924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74352" y="5358383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Endothermic → absorbs heat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445752" y="5463540"/>
            <a:ext cx="228600" cy="196596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674352" y="608990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Most decomposition = endothermic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445752" y="5463540"/>
            <a:ext cx="228600" cy="928116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296912" y="50749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C7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Energy Changes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56048" y="3017520"/>
            <a:ext cx="2286000" cy="822960"/>
          </a:xfrm>
          <a:prstGeom prst="roundRect">
            <a:avLst>
              <a:gd name="adj" fmla="val 18000"/>
            </a:avLst>
          </a:prstGeom>
          <a:solidFill>
            <a:srgbClr val="1A1A1C"/>
          </a:solidFill>
          <a:ln w="19050">
            <a:solidFill>
              <a:srgbClr val="F4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>
                <a:solidFill>
                  <a:srgbClr val="F4B82E"/>
                </a:solidFill>
                <a:latin typeface="Calibri"/>
              </a:rPr>
              <a:t>CHEMICAL
REACTIONS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64556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9AA2"/>
                </a:solidFill>
                <a:latin typeface="Calibri"/>
              </a:rPr>
              <a:t>Class X CBSE   ·   Shubhranshu Sahu   ·   Sheet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0" y="91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B82E"/>
                </a:solidFill>
                <a:latin typeface="Calibri"/>
              </a:rPr>
              <a:t>Chemical Reactions and Equations  —  Mind Map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4892040" y="1348740"/>
            <a:ext cx="64008" cy="2080260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27432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A + B  →  AB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2514600" y="576072"/>
            <a:ext cx="228600" cy="772668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" y="100584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CaO + H₂O → Ca(OH)₂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2514600" y="1307592"/>
            <a:ext cx="228600" cy="41148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" y="173736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2H₂ + O₂ → 2H₂O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514600" y="1348740"/>
            <a:ext cx="228600" cy="690372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246888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C + O₂ → CO₂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14600" y="1348740"/>
            <a:ext cx="228600" cy="1421892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0" y="9601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3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Combination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242048" y="1348740"/>
            <a:ext cx="54864" cy="2080260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74352" y="27432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A + BC  →  AC + B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9445752" y="576072"/>
            <a:ext cx="228600" cy="772668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74352" y="100584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Fe + CuSO₄ → FeSO₄ + Cu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445752" y="1307592"/>
            <a:ext cx="228600" cy="41148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74352" y="173736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Zn + CuSO₄ → ZnSO₄ + Cu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45752" y="1348740"/>
            <a:ext cx="228600" cy="690372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74352" y="246888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Reactivity series decides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45752" y="1348740"/>
            <a:ext cx="228600" cy="1421892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96912" y="9601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Displacement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892040" y="3429000"/>
            <a:ext cx="64008" cy="2034540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" y="389534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AB  →  A + B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2514600" y="4197096"/>
            <a:ext cx="228600" cy="1266444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4320" y="462686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Thermal: CaCO₃ → CaO + CO₂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2514600" y="4928616"/>
            <a:ext cx="228600" cy="534924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74320" y="5358383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Photolytic: 2AgCl → 2Ag + Cl₂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514600" y="5463540"/>
            <a:ext cx="228600" cy="196596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74320" y="608990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Electrolytic: 2H₂O → 2H₂ + O₂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14600" y="5463540"/>
            <a:ext cx="228600" cy="928116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743200" y="50749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8A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Decomposition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242048" y="3429000"/>
            <a:ext cx="54864" cy="2034540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674352" y="389534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AB + CD  →  AD + CB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9445752" y="4197096"/>
            <a:ext cx="228600" cy="1266444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674352" y="462686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Na₂SO₄+BaCl₂ → BaSO₄↓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9445752" y="4928616"/>
            <a:ext cx="228600" cy="534924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74352" y="5358383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AgNO₃+NaCl → AgCl↓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45752" y="5463540"/>
            <a:ext cx="228600" cy="196596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74352" y="608990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Precipitation reaction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445752" y="5463540"/>
            <a:ext cx="228600" cy="928116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296912" y="50749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C7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Double Displacement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56048" y="3017520"/>
            <a:ext cx="2286000" cy="822960"/>
          </a:xfrm>
          <a:prstGeom prst="roundRect">
            <a:avLst>
              <a:gd name="adj" fmla="val 18000"/>
            </a:avLst>
          </a:prstGeom>
          <a:solidFill>
            <a:srgbClr val="1A1A1C"/>
          </a:solidFill>
          <a:ln w="19050">
            <a:solidFill>
              <a:srgbClr val="F4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>
                <a:solidFill>
                  <a:srgbClr val="F4B82E"/>
                </a:solidFill>
                <a:latin typeface="Calibri"/>
              </a:rPr>
              <a:t>TYPES OF
REACTIONS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64556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9AA2"/>
                </a:solidFill>
                <a:latin typeface="Calibri"/>
              </a:rPr>
              <a:t>Class X CBSE   ·   Shubhranshu Sahu   ·   Sheet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0" y="91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B82E"/>
                </a:solidFill>
                <a:latin typeface="Calibri"/>
              </a:rPr>
              <a:t>Chemical Reactions and Equations  —  Mind Map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4892040" y="1348740"/>
            <a:ext cx="64008" cy="2080260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27432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Gain of oxygen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2514600" y="576072"/>
            <a:ext cx="228600" cy="772668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" y="100584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Loss of hydrogen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2514600" y="1307592"/>
            <a:ext cx="228600" cy="41148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" y="173736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Reducing agent is oxidised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514600" y="1348740"/>
            <a:ext cx="228600" cy="690372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246888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FE0F5"/>
                </a:solidFill>
                <a:latin typeface="Calibri"/>
              </a:rPr>
              <a:t>H₂ in CuO + H₂ → Cu + H₂O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14600" y="1348740"/>
            <a:ext cx="228600" cy="1421892"/>
          </a:xfrm>
          <a:prstGeom prst="line">
            <a:avLst/>
          </a:prstGeom>
          <a:ln w="20320">
            <a:solidFill>
              <a:srgbClr val="3E6D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0" y="9601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3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Oxidation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242048" y="1348740"/>
            <a:ext cx="54864" cy="2080260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74352" y="27432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Rusting: Fe₂O₃·xH₂O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9445752" y="576072"/>
            <a:ext cx="228600" cy="772668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74352" y="100584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Needs both air and water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445752" y="1307592"/>
            <a:ext cx="228600" cy="41148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74352" y="173736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Silver → black · Copper → green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45752" y="1348740"/>
            <a:ext cx="228600" cy="690372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74352" y="2468880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1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C6EFE7"/>
                </a:solidFill>
                <a:latin typeface="Calibri"/>
              </a:rPr>
              <a:t>Prevent: paint, oil, galvanise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45752" y="1348740"/>
            <a:ext cx="228600" cy="1421892"/>
          </a:xfrm>
          <a:prstGeom prst="line">
            <a:avLst/>
          </a:prstGeom>
          <a:ln w="2032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96912" y="9601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Corrosion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892040" y="3429000"/>
            <a:ext cx="64008" cy="2034540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" y="389534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Loss of oxygen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2514600" y="4197096"/>
            <a:ext cx="228600" cy="1266444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4320" y="462686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Gain of hydrogen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2514600" y="4928616"/>
            <a:ext cx="228600" cy="534924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74320" y="5358383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Oxidising agent is reduced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514600" y="5463540"/>
            <a:ext cx="228600" cy="196596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74320" y="608990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27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E3D6F2"/>
                </a:solidFill>
                <a:latin typeface="Calibri"/>
              </a:rPr>
              <a:t>CuO → Cu in CuO + H₂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14600" y="5463540"/>
            <a:ext cx="228600" cy="928116"/>
          </a:xfrm>
          <a:prstGeom prst="line">
            <a:avLst/>
          </a:prstGeom>
          <a:ln w="20320">
            <a:solidFill>
              <a:srgbClr val="8A63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743200" y="50749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8A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Reduction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242048" y="3429000"/>
            <a:ext cx="54864" cy="2034540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674352" y="389534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Oxidation of fats and oils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9445752" y="4197096"/>
            <a:ext cx="228600" cy="1266444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674352" y="462686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Gives bad smell and taste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9445752" y="4928616"/>
            <a:ext cx="228600" cy="534924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74352" y="5358383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Prevent: antioxidants, N₂ flush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45752" y="5463540"/>
            <a:ext cx="228600" cy="196596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74352" y="6089904"/>
            <a:ext cx="2240280" cy="603504"/>
          </a:xfrm>
          <a:prstGeom prst="roundRect">
            <a:avLst>
              <a:gd name="adj" fmla="val 18000"/>
            </a:avLst>
          </a:prstGeom>
          <a:solidFill>
            <a:srgbClr val="372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2E3C0"/>
                </a:solidFill>
                <a:latin typeface="Calibri"/>
              </a:rPr>
              <a:t>Airtight packing + refrigerate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445752" y="5463540"/>
            <a:ext cx="228600" cy="928116"/>
          </a:xfrm>
          <a:prstGeom prst="line">
            <a:avLst/>
          </a:prstGeom>
          <a:ln w="20320">
            <a:solidFill>
              <a:srgbClr val="C7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296912" y="5074920"/>
            <a:ext cx="2148840" cy="777240"/>
          </a:xfrm>
          <a:prstGeom prst="roundRect">
            <a:avLst>
              <a:gd name="adj" fmla="val 18000"/>
            </a:avLst>
          </a:prstGeom>
          <a:solidFill>
            <a:srgbClr val="C7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Rancidity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56048" y="3017520"/>
            <a:ext cx="2286000" cy="822960"/>
          </a:xfrm>
          <a:prstGeom prst="roundRect">
            <a:avLst>
              <a:gd name="adj" fmla="val 18000"/>
            </a:avLst>
          </a:prstGeom>
          <a:solidFill>
            <a:srgbClr val="1A1A1C"/>
          </a:solidFill>
          <a:ln w="19050">
            <a:solidFill>
              <a:srgbClr val="F4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>
                <a:solidFill>
                  <a:srgbClr val="F4B82E"/>
                </a:solidFill>
                <a:latin typeface="Calibri"/>
              </a:rPr>
              <a:t>REDOX &amp;
EFFECTS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64556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9AA2"/>
                </a:solidFill>
                <a:latin typeface="Calibri"/>
              </a:rPr>
              <a:t>Class X CBSE   ·   Shubhranshu Sahu   ·   Sheet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