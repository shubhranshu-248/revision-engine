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14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1" i="0">
                <a:solidFill>
                  <a:srgbClr val="F4B82E"/>
                </a:solidFill>
                <a:latin typeface="Arial Black"/>
              </a:rPr>
              <a:t>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9CCD2"/>
                </a:solidFill>
                <a:latin typeface="Calibri"/>
              </a:rPr>
              <a:t>Class X  ·  CBSE Mathematics  ·  Chapter 1</a:t>
            </a:r>
          </a:p>
        </p:txBody>
      </p:sp>
      <p:pic>
        <p:nvPicPr>
          <p:cNvPr id="5" name="Picture 4" descr="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029" y="3602163"/>
            <a:ext cx="3255837" cy="3255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69196" y="6400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 dirty="0">
                <a:solidFill>
                  <a:srgbClr val="FFFFFF"/>
                </a:solidFill>
                <a:latin typeface="Calibri"/>
              </a:rPr>
              <a:t>- Shubhranshu Sahu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Let's Rewind and 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532120" cy="507492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B82E"/>
                </a:solidFill>
                <a:latin typeface="Calibri"/>
              </a:rPr>
              <a:t>The Number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1368" y="1920240"/>
            <a:ext cx="3017520" cy="457200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 i="0">
                <a:solidFill>
                  <a:srgbClr val="1A1A1C"/>
                </a:solidFill>
                <a:latin typeface="Calibri"/>
              </a:rPr>
              <a:t>Real Numbers (R)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965960" y="2377440"/>
            <a:ext cx="320040" cy="411480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97680" y="2377440"/>
            <a:ext cx="320040" cy="411480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0100" y="2807208"/>
            <a:ext cx="2331720" cy="457200"/>
          </a:xfrm>
          <a:prstGeom prst="roundRect">
            <a:avLst>
              <a:gd name="adj" fmla="val 18000"/>
            </a:avLst>
          </a:prstGeom>
          <a:solidFill>
            <a:srgbClr val="3A4A66"/>
          </a:solidFill>
          <a:ln w="1524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Rational (Q)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2807208"/>
            <a:ext cx="2331720" cy="457200"/>
          </a:xfrm>
          <a:prstGeom prst="roundRect">
            <a:avLst>
              <a:gd name="adj" fmla="val 18000"/>
            </a:avLst>
          </a:prstGeom>
          <a:solidFill>
            <a:srgbClr val="3A4A66"/>
          </a:solidFill>
          <a:ln w="1524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Irrational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3264408"/>
            <a:ext cx="0" cy="393192"/>
          </a:xfrm>
          <a:prstGeom prst="bentConnector3">
            <a:avLst/>
          </a:prstGeom>
          <a:ln w="1524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3264408"/>
            <a:ext cx="0" cy="393192"/>
          </a:xfrm>
          <a:prstGeom prst="bentConnector3">
            <a:avLst/>
          </a:prstGeom>
          <a:ln w="1524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0100" y="3607308"/>
            <a:ext cx="2331720" cy="868680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 i="0">
                <a:solidFill>
                  <a:srgbClr val="C9CCD2"/>
                </a:solidFill>
                <a:latin typeface="Calibri"/>
              </a:rPr>
              <a:t>Integers, Whole,</a:t>
            </a:r>
          </a:p>
          <a:p>
            <a:pPr algn="ctr"/>
            <a:r>
              <a:rPr sz="1100" b="0" i="0">
                <a:solidFill>
                  <a:srgbClr val="C9CCD2"/>
                </a:solidFill>
                <a:latin typeface="Calibri"/>
              </a:rPr>
              <a:t>Natural, Fractions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1860" y="3607308"/>
            <a:ext cx="2331720" cy="868680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0" i="0">
                <a:solidFill>
                  <a:srgbClr val="C9CCD2"/>
                </a:solidFill>
                <a:latin typeface="Calibri"/>
              </a:rPr>
              <a:t>√2, √3, π,</a:t>
            </a:r>
          </a:p>
          <a:p>
            <a:pPr algn="ctr"/>
            <a:r>
              <a:rPr sz="1100" b="0" i="0">
                <a:solidFill>
                  <a:srgbClr val="C9CCD2"/>
                </a:solidFill>
                <a:latin typeface="Calibri"/>
              </a:rPr>
              <a:t>non-term &amp; non-recurring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D166"/>
                </a:solidFill>
                <a:latin typeface="Calibri"/>
              </a:rPr>
              <a:t>Rational + Irrational = Real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9CCD2"/>
                </a:solidFill>
                <a:latin typeface="Calibri"/>
              </a:rPr>
              <a:t>Every real number lies on the number 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34440"/>
            <a:ext cx="5330952" cy="507492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371600"/>
            <a:ext cx="493776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F4B82E"/>
                </a:solidFill>
                <a:latin typeface="Calibri"/>
              </a:rPr>
              <a:t>Key Terms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Prime 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Exactly 2 factors — 1 and itself.  e.g. 2, 3, 5, 7, 11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Composite 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More than 2 factors.  e.g. 4, 6, 8, 9,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Co-prime numbers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Numbers whose HCF = 1.  e.g. (8, 9), (15, 28)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Remember: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1 is neither prime nor composite.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2 is the only even prime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Rational vs Irrational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8348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8348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4B82E"/>
                </a:solidFill>
                <a:latin typeface="Calibri"/>
              </a:rPr>
              <a:t>Rational Numbers (Q)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Can be written in the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" y="2612136"/>
            <a:ext cx="50292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0" i="0">
                <a:solidFill>
                  <a:srgbClr val="FFD166"/>
                </a:solidFill>
                <a:latin typeface="Cambria Math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" y="3009900"/>
            <a:ext cx="502920" cy="350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0" i="0">
                <a:solidFill>
                  <a:srgbClr val="FFD166"/>
                </a:solidFill>
                <a:latin typeface="Cambria Math"/>
              </a:rPr>
              <a:t>q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5860" y="2971800"/>
            <a:ext cx="502920" cy="2032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6974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, where p, q are integers, q ≠ 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C9CCD2"/>
                </a:solidFill>
                <a:latin typeface="Calibri"/>
              </a:rPr>
              <a:t>Decimal: terminating OR non-terminating repeating.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Examples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7,  −3,  0.5,  0.333…,  ratio of two integers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4B82E"/>
                </a:solidFill>
                <a:latin typeface="Calibri"/>
              </a:rPr>
              <a:t>Irrational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8920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CANNOT be written as p/q.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C9CCD2"/>
                </a:solidFill>
                <a:latin typeface="Calibri"/>
              </a:rPr>
              <a:t>Decimal: non-terminating AND non-repeating.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Examples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√2,  √3,  √5,  √6,  π,  0.1011011101111…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Key fact: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√p is irrational for every prime 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Fundamental Theorem of Arithmetic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669280" cy="493776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Every composite number can be expressed (factorised) as a product of primes, and this factorisation is unique, apart from the order in which the primes occur.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Important Result: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67328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If a prime p divides a², then p divides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D166"/>
                </a:solidFill>
                <a:latin typeface="Calibri"/>
              </a:rPr>
              <a:t>General 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x = p₁ × p₂ × … × pₙ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CD2"/>
                </a:solidFill>
                <a:latin typeface="Calibri"/>
              </a:rPr>
              <a:t>primes written in ascending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B82E"/>
                </a:solidFill>
                <a:latin typeface="Calibri"/>
              </a:rPr>
              <a:t>Factor tree of 32760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5420" y="1682495"/>
            <a:ext cx="1051560" cy="384048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 Math"/>
              </a:rPr>
              <a:t>32760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5420" y="2285999"/>
            <a:ext cx="1051560" cy="384048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 Math"/>
              </a:rPr>
              <a:t>16380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0" y="2066543"/>
            <a:ext cx="0" cy="219456"/>
          </a:xfrm>
          <a:prstGeom prst="bentConnector3">
            <a:avLst/>
          </a:prstGeom>
          <a:ln w="1651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031175" y="2035819"/>
            <a:ext cx="1275588" cy="373075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285999"/>
            <a:ext cx="640080" cy="384048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1A1A1C"/>
                </a:solidFill>
                <a:latin typeface="Cambria Math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5420" y="2889503"/>
            <a:ext cx="1051560" cy="384048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 Math"/>
              </a:rPr>
              <a:t>8190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1200" y="2670047"/>
            <a:ext cx="0" cy="219456"/>
          </a:xfrm>
          <a:prstGeom prst="bentConnector3">
            <a:avLst/>
          </a:prstGeom>
          <a:ln w="1651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031175" y="2639323"/>
            <a:ext cx="1275588" cy="373075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69480" y="2889503"/>
            <a:ext cx="640080" cy="384048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1A1A1C"/>
                </a:solidFill>
                <a:latin typeface="Cambria Math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420" y="3493007"/>
            <a:ext cx="1051560" cy="384048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 Math"/>
              </a:rPr>
              <a:t>4095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1200" y="3273551"/>
            <a:ext cx="0" cy="219456"/>
          </a:xfrm>
          <a:prstGeom prst="bentConnector3">
            <a:avLst/>
          </a:prstGeom>
          <a:ln w="1651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031175" y="3242827"/>
            <a:ext cx="1275588" cy="373075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69480" y="3493007"/>
            <a:ext cx="640080" cy="384048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1A1A1C"/>
                </a:solidFill>
                <a:latin typeface="Cambria Math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5420" y="4096511"/>
            <a:ext cx="1051560" cy="384048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 Math"/>
              </a:rPr>
              <a:t>1365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0" y="3877055"/>
            <a:ext cx="0" cy="219456"/>
          </a:xfrm>
          <a:prstGeom prst="bentConnector3">
            <a:avLst/>
          </a:prstGeom>
          <a:ln w="1651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031175" y="3846331"/>
            <a:ext cx="1275588" cy="373075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69480" y="4096511"/>
            <a:ext cx="640080" cy="384048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1A1A1C"/>
                </a:solidFill>
                <a:latin typeface="Cambria Math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5420" y="4700015"/>
            <a:ext cx="1051560" cy="384048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 Math"/>
              </a:rPr>
              <a:t>455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01200" y="4480559"/>
            <a:ext cx="0" cy="219456"/>
          </a:xfrm>
          <a:prstGeom prst="bentConnector3">
            <a:avLst/>
          </a:prstGeom>
          <a:ln w="1651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031175" y="4449835"/>
            <a:ext cx="1275588" cy="373075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69480" y="4700015"/>
            <a:ext cx="640080" cy="384048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1A1A1C"/>
                </a:solidFill>
                <a:latin typeface="Cambria Math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5420" y="5303519"/>
            <a:ext cx="1051560" cy="384048"/>
          </a:xfrm>
          <a:prstGeom prst="roundRect">
            <a:avLst>
              <a:gd name="adj" fmla="val 18000"/>
            </a:avLst>
          </a:prstGeom>
          <a:solidFill>
            <a:srgbClr val="26262A"/>
          </a:solidFill>
          <a:ln w="1524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 Math"/>
              </a:rPr>
              <a:t>91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01200" y="5084063"/>
            <a:ext cx="0" cy="219456"/>
          </a:xfrm>
          <a:prstGeom prst="bentConnector3">
            <a:avLst/>
          </a:prstGeom>
          <a:ln w="1651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031175" y="5053339"/>
            <a:ext cx="1275588" cy="373075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269480" y="5303519"/>
            <a:ext cx="640080" cy="384048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1A1A1C"/>
                </a:solidFill>
                <a:latin typeface="Cambria Math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5420" y="5907023"/>
            <a:ext cx="1051560" cy="384048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1A1A1C"/>
                </a:solidFill>
                <a:latin typeface="Cambria Math"/>
              </a:rPr>
              <a:t>13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01200" y="5687567"/>
            <a:ext cx="0" cy="219456"/>
          </a:xfrm>
          <a:prstGeom prst="bentConnector3">
            <a:avLst/>
          </a:prstGeom>
          <a:ln w="16510">
            <a:solidFill>
              <a:srgbClr val="C9C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031175" y="5656843"/>
            <a:ext cx="1275588" cy="373075"/>
          </a:xfrm>
          <a:prstGeom prst="bentConnector3">
            <a:avLst/>
          </a:prstGeom>
          <a:ln w="20320">
            <a:solidFill>
              <a:srgbClr val="F4B8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269480" y="5907023"/>
            <a:ext cx="640080" cy="384048"/>
          </a:xfrm>
          <a:prstGeom prst="roundRect">
            <a:avLst>
              <a:gd name="adj" fmla="val 18000"/>
            </a:avLst>
          </a:prstGeom>
          <a:solidFill>
            <a:srgbClr val="F4B82E"/>
          </a:solidFill>
          <a:ln w="1524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 i="0">
                <a:solidFill>
                  <a:srgbClr val="1A1A1C"/>
                </a:solidFill>
                <a:latin typeface="Cambria Math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64008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32760 = 2³ × 3² × 5 × 7 ×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HCF &amp; LCM by Prime Factorisation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4B82E"/>
                </a:solidFill>
                <a:latin typeface="Calibri"/>
              </a:rPr>
              <a:t>The Rules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166"/>
                </a:solidFill>
                <a:latin typeface="Calibri"/>
              </a:rPr>
              <a:t>HCF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Product of the SMALLEST power of each COMMON prime factor.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166"/>
                </a:solidFill>
                <a:latin typeface="Calibri"/>
              </a:rPr>
              <a:t>LCM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Product of the GREATEST power of every prime factor involved.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HCF (a, b) × LCM (a, b) = a × b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9CCD2"/>
                </a:solidFill>
                <a:latin typeface="Calibri"/>
              </a:rPr>
              <a:t>Use it to find the LCM once the HCF is known.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9CCD2"/>
                </a:solidFill>
                <a:latin typeface="Calibri"/>
              </a:rPr>
              <a:t>Note: for THREE numbers, a × b × c ≠ HCF × LCM.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000"/>
            </a:avLst>
          </a:prstGeom>
          <a:solidFill>
            <a:srgbClr val="2B2B20"/>
          </a:solidFill>
          <a:ln w="1270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81328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4B82E"/>
                </a:solidFill>
                <a:latin typeface="Calibri"/>
              </a:rPr>
              <a:t>Worked Example — 6 and 20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6  = 2 ×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20 = 2² ×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D166"/>
                </a:solidFill>
                <a:latin typeface="Calibri"/>
              </a:rPr>
              <a:t>HCF = 2¹ =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C9CCD2"/>
                </a:solidFill>
                <a:latin typeface="Calibri"/>
              </a:rPr>
              <a:t>(smallest power of the common prime 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D166"/>
                </a:solidFill>
                <a:latin typeface="Calibri"/>
              </a:rPr>
              <a:t>LCM = 2² × 3 × 5 = 60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C9CCD2"/>
                </a:solidFill>
                <a:latin typeface="Calibri"/>
              </a:rPr>
              <a:t>(greatest power of each prime)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Verify: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HCF × LCM = 2 × 60 = 120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× b = 6 × 20 = 120 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HCF or LCM? — Word-Problem Cues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000"/>
            </a:avLst>
          </a:prstGeom>
          <a:solidFill>
            <a:srgbClr val="1F2A38"/>
          </a:solidFill>
          <a:ln w="1270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F4B82E"/>
                </a:solidFill>
                <a:latin typeface="Calibri"/>
              </a:rPr>
              <a:t>Find the HCF when…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'maximum', 'greatest', 'largest size'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splitting into equal groups / stacks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longest rod / tape that measures exactly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max number of columns in a parade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Example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Largest container measuring 504 L and 735 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exactly  →  HCF(504, 735) = 21 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000"/>
            </a:avLst>
          </a:prstGeom>
          <a:solidFill>
            <a:srgbClr val="332422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81328"/>
            <a:ext cx="484632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D7D31"/>
                </a:solidFill>
                <a:latin typeface="Calibri"/>
              </a:rPr>
              <a:t>Find the LCM when…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'minimum', 'least', 'smallest number'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events happen 'together again'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bells / lights / alarms ringing together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runners meet at the start of a track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Example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Lights change every 48, 72, 108 s; next together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→  LCM = 432 s = 7 min 12 s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Proving √2 is Irrational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675120" cy="493776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Assume, to the contrary, that √2 is rational.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So  √2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3100" y="1986280"/>
            <a:ext cx="502920" cy="292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FFD166"/>
                </a:solidFill>
                <a:latin typeface="Cambria Math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3100" y="2324100"/>
            <a:ext cx="502920" cy="292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FFD166"/>
                </a:solidFill>
                <a:latin typeface="Cambria Math"/>
              </a:rPr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3100" y="2286000"/>
            <a:ext cx="502920" cy="2032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where a, b are coprime and b ≠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64008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1.  b√2 = a   ⇒   2b² = a²   ⇒   2 divides a².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2.  By Theorem 1.2, 2 divides a.  Write a = 2c.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3.  2b² = (2c)² = 4c²   ⇒   b² = 2c².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4.  So 2 divides b² ⇒ 2 divides 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5.  Then 2 divides BOTH a and b — but they were coprime.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 i="0">
                <a:solidFill>
                  <a:srgbClr val="FFD166"/>
                </a:solidFill>
                <a:latin typeface="Calibri"/>
              </a:rPr>
              <a:t>Contradiction!  ⇒  √2 is irrational.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325880"/>
            <a:ext cx="4142232" cy="4937760"/>
          </a:xfrm>
          <a:prstGeom prst="roundRect">
            <a:avLst>
              <a:gd name="adj" fmla="val 4000"/>
            </a:avLst>
          </a:prstGeom>
          <a:solidFill>
            <a:srgbClr val="332422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1481328"/>
            <a:ext cx="370332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7D31"/>
                </a:solidFill>
                <a:latin typeface="Calibri"/>
              </a:rPr>
              <a:t>Method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Proof by contradiction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Assume the opposite, reach an impossibility, conclude the original claim.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Key tool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Theorem 1.2:  if a prime p divides a², then p divides 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Same template proves √3, √5, √p irrational.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Results on Irrational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214884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D166"/>
                </a:solidFill>
                <a:latin typeface="Calibri"/>
              </a:rPr>
              <a:t>1.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The sum or difference of a rational and an irrational number is irrational.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D166"/>
                </a:solidFill>
                <a:latin typeface="Calibri"/>
              </a:rPr>
              <a:t>2.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The product or quotient of a non-zero rational and an irrational number is irrational.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D166"/>
                </a:solidFill>
                <a:latin typeface="Calibri"/>
              </a:rPr>
              <a:t>3.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√p is irrational for every prime p;  more generally √p + √q is irrational (p, q prime).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91672" cy="2606040"/>
          </a:xfrm>
          <a:prstGeom prst="roundRect">
            <a:avLst>
              <a:gd name="adj" fmla="val 4000"/>
            </a:avLst>
          </a:prstGeom>
          <a:solidFill>
            <a:srgbClr val="2B2B20"/>
          </a:solidFill>
          <a:ln w="1270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B82E"/>
                </a:solidFill>
                <a:latin typeface="Calibri"/>
              </a:rPr>
              <a:t>Quick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5 − √3  is irrational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3√2  is irrational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2 + √3  is irrational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29768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To prove a + b√n is irrational, isolate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√n, show it would be rational — contradiction.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Important Results &amp; Common Traps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000"/>
            </a:avLst>
          </a:prstGeom>
          <a:solidFill>
            <a:srgbClr val="2B2B20"/>
          </a:solidFill>
          <a:ln w="1270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F4B82E"/>
                </a:solidFill>
                <a:latin typeface="Calibri"/>
              </a:rPr>
              <a:t>Must-know Results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Composite-number test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Take out the common factor: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7×11×13 + 13 = 13(7×11 + 1) → composite.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Ends-in-zero rule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number ends in 0 only if BOTH 2 and 5 are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prime factors. So 4ⁿ, 6ⁿ, 12ⁿ never end in 0.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Ordering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HCF ≤ each number ≤ LCM, and HCF divides LCM.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000"/>
            </a:avLst>
          </a:prstGeom>
          <a:solidFill>
            <a:srgbClr val="332422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D7D31"/>
                </a:solidFill>
                <a:latin typeface="Calibri"/>
              </a:rPr>
              <a:t>Common Traps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Trap 1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 is NOT prime and NOT composite; 2 is the only even prime.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Trap 2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HCF must divide LCM. If not, the data is impossible (e.g. HCF 18, LCM 380).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Trap 3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× b = HCF × LCM holds for TWO numbers only — not for three.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D166"/>
                </a:solidFill>
                <a:latin typeface="Calibri"/>
              </a:rPr>
              <a:t>Trap 4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√2 = 1.414… is irrational; never treat it as 1.41 in a proof.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B82E"/>
                </a:solidFill>
                <a:latin typeface="Arial Black"/>
              </a:rPr>
              <a:t>60-Second Recall  &amp;  Quick-Fire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000"/>
            </a:avLst>
          </a:prstGeom>
          <a:solidFill>
            <a:srgbClr val="26262A"/>
          </a:solidFill>
          <a:ln w="12700">
            <a:solidFill>
              <a:srgbClr val="40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F4B82E"/>
                </a:solidFill>
                <a:latin typeface="Calibri"/>
              </a:rPr>
              <a:t>60-Second Recall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Every composite = unique product of primes (FTA).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HCF = smallest powers; LCM = greatest powers.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HCF × LCM = product (two numbers).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√p is irrational for every prime 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rational ± irrational = irrational.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A number ends in 0 ⇔ it has factors 2 AND 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000"/>
            </a:avLst>
          </a:prstGeom>
          <a:solidFill>
            <a:srgbClr val="2B2B20"/>
          </a:solidFill>
          <a:ln w="12700">
            <a:solidFill>
              <a:srgbClr val="F4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4B82E"/>
                </a:solidFill>
                <a:latin typeface="Calibri"/>
              </a:rPr>
              <a:t>Quick-Fire Questions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1.  Express 140 as a product of primes.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2.  HCF(a, b) = 9 and LCM = 360. Find a × 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3.  Is 7 × 11 × 13 + 13 prime or composite?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4.  Can 6ⁿ end with the digit 0? Why?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5.  State the method to prove √2 is irrational.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D166"/>
                </a:solidFill>
                <a:latin typeface="Calibri"/>
              </a:rPr>
              <a:t>Answers: 1) 2²×5×7  2) 3240  3) composite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D166"/>
                </a:solidFill>
                <a:latin typeface="Calibri"/>
              </a:rPr>
              <a:t>4) No — no factor 5   5) proof by contradiction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2B06-9C7A-2C20-6955-BF35C108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>
            <a:extLst>
              <a:ext uri="{FF2B5EF4-FFF2-40B4-BE49-F238E27FC236}">
                <a16:creationId xmlns:a16="http://schemas.microsoft.com/office/drawing/2014/main" id="{0C4D6BFE-522F-3FE7-5CC1-5893BBF79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14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45AC3E-66D8-BB3C-617C-3862064196E1}"/>
              </a:ext>
            </a:extLst>
          </p:cNvPr>
          <p:cNvSpPr txBox="1"/>
          <p:nvPr/>
        </p:nvSpPr>
        <p:spPr>
          <a:xfrm>
            <a:off x="743793" y="2124315"/>
            <a:ext cx="10698480" cy="2609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8000" b="1" i="0" dirty="0">
                <a:solidFill>
                  <a:srgbClr val="F4B82E"/>
                </a:solidFill>
                <a:latin typeface="Arial Black"/>
              </a:rPr>
              <a:t>THANK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8000" b="1" dirty="0">
                <a:solidFill>
                  <a:srgbClr val="F4B82E"/>
                </a:solidFill>
                <a:latin typeface="Arial Black"/>
              </a:rPr>
              <a:t>YOU</a:t>
            </a:r>
            <a:endParaRPr sz="8000" b="1" i="0" dirty="0">
              <a:solidFill>
                <a:srgbClr val="F4B82E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899672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1199</Words>
  <Application>Microsoft Office PowerPoint</Application>
  <PresentationFormat>Widescreen</PresentationFormat>
  <Paragraphs>167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Shubhranshu Sahu</cp:lastModifiedBy>
  <cp:revision>2</cp:revision>
  <dcterms:created xsi:type="dcterms:W3CDTF">2013-01-27T09:14:16Z</dcterms:created>
  <dcterms:modified xsi:type="dcterms:W3CDTF">2026-06-26T08:11:59Z</dcterms:modified>
  <cp:category/>
</cp:coreProperties>
</file>