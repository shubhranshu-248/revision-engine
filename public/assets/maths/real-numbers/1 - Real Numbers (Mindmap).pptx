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10972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E6E77"/>
                </a:solidFill>
                <a:latin typeface="Calibri"/>
              </a:rPr>
              <a:t>Real Numbers  -  Mind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64190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9AA2"/>
                </a:solidFill>
                <a:latin typeface="Calibri"/>
              </a:rPr>
              <a:t>Class X CBSE  ·  Prepared by Shubhranshu Sahu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3886200" y="1783080"/>
            <a:ext cx="2210104" cy="1673352"/>
          </a:xfrm>
          <a:prstGeom prst="line">
            <a:avLst/>
          </a:prstGeom>
          <a:ln w="34925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11780" y="1417320"/>
            <a:ext cx="2148840" cy="731520"/>
          </a:xfrm>
          <a:prstGeom prst="roundRect">
            <a:avLst>
              <a:gd name="adj" fmla="val 20000"/>
            </a:avLst>
          </a:prstGeom>
          <a:solidFill>
            <a:srgbClr val="3D5A80"/>
          </a:solidFill>
          <a:ln w="1905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Number System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2738628" y="502920"/>
            <a:ext cx="73152" cy="1280160"/>
          </a:xfrm>
          <a:prstGeom prst="line">
            <a:avLst/>
          </a:prstGeom>
          <a:ln w="1905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6908" y="22860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CE3EC"/>
          </a:solidFill>
          <a:ln w="1270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27374A"/>
                </a:solidFill>
                <a:latin typeface="Calibri"/>
              </a:rPr>
              <a:t>Rational = p/q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738628" y="1143000"/>
            <a:ext cx="73152" cy="640080"/>
          </a:xfrm>
          <a:prstGeom prst="line">
            <a:avLst/>
          </a:prstGeom>
          <a:ln w="1905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6908" y="86868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CE3EC"/>
          </a:solidFill>
          <a:ln w="1270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27374A"/>
                </a:solidFill>
                <a:latin typeface="Calibri"/>
              </a:rPr>
              <a:t>Irrational  (√2, π)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738628" y="1783080"/>
            <a:ext cx="73152" cy="0"/>
          </a:xfrm>
          <a:prstGeom prst="line">
            <a:avLst/>
          </a:prstGeom>
          <a:ln w="1905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6908" y="150876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CE3EC"/>
          </a:solidFill>
          <a:ln w="1270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27374A"/>
                </a:solidFill>
                <a:latin typeface="Calibri"/>
              </a:rPr>
              <a:t>Prime / Composite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738628" y="1783080"/>
            <a:ext cx="73152" cy="640080"/>
          </a:xfrm>
          <a:prstGeom prst="line">
            <a:avLst/>
          </a:prstGeom>
          <a:ln w="1905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6908" y="214884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CE3EC"/>
          </a:solidFill>
          <a:ln w="1270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27374A"/>
                </a:solidFill>
                <a:latin typeface="Calibri"/>
              </a:rPr>
              <a:t>Co-prime  ⇒  HCF = 1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738628" y="1783080"/>
            <a:ext cx="73152" cy="1280160"/>
          </a:xfrm>
          <a:prstGeom prst="line">
            <a:avLst/>
          </a:prstGeom>
          <a:ln w="1905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6908" y="2761488"/>
            <a:ext cx="2331720" cy="603504"/>
          </a:xfrm>
          <a:prstGeom prst="roundRect">
            <a:avLst>
              <a:gd name="adj" fmla="val 20000"/>
            </a:avLst>
          </a:prstGeom>
          <a:solidFill>
            <a:srgbClr val="DCE3EC"/>
          </a:solidFill>
          <a:ln w="12700">
            <a:solidFill>
              <a:srgbClr val="3D5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27374A"/>
                </a:solidFill>
                <a:latin typeface="Calibri"/>
              </a:rPr>
              <a:t>1 = neither prime nor</a:t>
            </a:r>
          </a:p>
          <a:p>
            <a:pPr algn="ctr">
              <a:lnSpc>
                <a:spcPct val="95000"/>
              </a:lnSpc>
            </a:pPr>
            <a:r>
              <a:rPr sz="1150" b="0">
                <a:solidFill>
                  <a:srgbClr val="27374A"/>
                </a:solidFill>
                <a:latin typeface="Calibri"/>
              </a:rPr>
              <a:t>composite · 2 = only even prime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886200" y="3456432"/>
            <a:ext cx="2210104" cy="1527048"/>
          </a:xfrm>
          <a:prstGeom prst="line">
            <a:avLst/>
          </a:prstGeom>
          <a:ln w="34925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811780" y="4617720"/>
            <a:ext cx="2148840" cy="731520"/>
          </a:xfrm>
          <a:prstGeom prst="roundRect">
            <a:avLst>
              <a:gd name="adj" fmla="val 20000"/>
            </a:avLst>
          </a:prstGeom>
          <a:solidFill>
            <a:srgbClr val="2E7D6F"/>
          </a:solidFill>
          <a:ln w="1905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HCF &amp; LCM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2738628" y="3703320"/>
            <a:ext cx="73152" cy="1280160"/>
          </a:xfrm>
          <a:prstGeom prst="line">
            <a:avLst/>
          </a:prstGeom>
          <a:ln w="1905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6908" y="342900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2EAE4"/>
          </a:solidFill>
          <a:ln w="1270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HCF = smallest powers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2738628" y="4343400"/>
            <a:ext cx="73152" cy="640080"/>
          </a:xfrm>
          <a:prstGeom prst="line">
            <a:avLst/>
          </a:prstGeom>
          <a:ln w="1905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06908" y="406908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2EAE4"/>
          </a:solidFill>
          <a:ln w="1270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LCM = greatest powers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738628" y="4983480"/>
            <a:ext cx="73152" cy="0"/>
          </a:xfrm>
          <a:prstGeom prst="line">
            <a:avLst/>
          </a:prstGeom>
          <a:ln w="1905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06908" y="470916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D2EAE4"/>
          </a:solidFill>
          <a:ln w="1270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HCF × LCM = a × b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738628" y="4983480"/>
            <a:ext cx="73152" cy="640080"/>
          </a:xfrm>
          <a:prstGeom prst="line">
            <a:avLst/>
          </a:prstGeom>
          <a:ln w="1905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6908" y="5321808"/>
            <a:ext cx="2331720" cy="603504"/>
          </a:xfrm>
          <a:prstGeom prst="roundRect">
            <a:avLst>
              <a:gd name="adj" fmla="val 20000"/>
            </a:avLst>
          </a:prstGeom>
          <a:solidFill>
            <a:srgbClr val="D2EAE4"/>
          </a:solidFill>
          <a:ln w="1270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HCF → 'maximum /</a:t>
            </a:r>
          </a:p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greatest size'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738628" y="4983480"/>
            <a:ext cx="73152" cy="1280160"/>
          </a:xfrm>
          <a:prstGeom prst="line">
            <a:avLst/>
          </a:prstGeom>
          <a:ln w="1905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06908" y="5961888"/>
            <a:ext cx="2331720" cy="603504"/>
          </a:xfrm>
          <a:prstGeom prst="roundRect">
            <a:avLst>
              <a:gd name="adj" fmla="val 20000"/>
            </a:avLst>
          </a:prstGeom>
          <a:solidFill>
            <a:srgbClr val="D2EAE4"/>
          </a:solidFill>
          <a:ln w="12700">
            <a:solidFill>
              <a:srgbClr val="2E7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LCM → 'least / together</a:t>
            </a:r>
          </a:p>
          <a:p>
            <a:pPr algn="ctr">
              <a:lnSpc>
                <a:spcPct val="95000"/>
              </a:lnSpc>
            </a:pPr>
            <a:r>
              <a:rPr sz="1150" b="0">
                <a:solidFill>
                  <a:srgbClr val="1B463F"/>
                </a:solidFill>
                <a:latin typeface="Calibri"/>
              </a:rPr>
              <a:t>again'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096304" y="1783080"/>
            <a:ext cx="2206448" cy="1673352"/>
          </a:xfrm>
          <a:prstGeom prst="line">
            <a:avLst/>
          </a:prstGeom>
          <a:ln w="34925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28332" y="1417320"/>
            <a:ext cx="2148840" cy="731520"/>
          </a:xfrm>
          <a:prstGeom prst="roundRect">
            <a:avLst>
              <a:gd name="adj" fmla="val 20000"/>
            </a:avLst>
          </a:prstGeom>
          <a:solidFill>
            <a:srgbClr val="6D4C7D"/>
          </a:solidFill>
          <a:ln w="19050">
            <a:solidFill>
              <a:srgbClr val="6D4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Irrational Numbers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9377172" y="502920"/>
            <a:ext cx="64008" cy="1280160"/>
          </a:xfrm>
          <a:prstGeom prst="line">
            <a:avLst/>
          </a:prstGeom>
          <a:ln w="1905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41180" y="22860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E5DCEC"/>
          </a:solidFill>
          <a:ln w="12700">
            <a:solidFill>
              <a:srgbClr val="6D4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Proof by contradiction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377172" y="1143000"/>
            <a:ext cx="64008" cy="640080"/>
          </a:xfrm>
          <a:prstGeom prst="line">
            <a:avLst/>
          </a:prstGeom>
          <a:ln w="1905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441180" y="86868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E5DCEC"/>
          </a:solidFill>
          <a:ln w="12700">
            <a:solidFill>
              <a:srgbClr val="6D4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√2, √3, √5 are irrational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77172" y="1783080"/>
            <a:ext cx="64008" cy="0"/>
          </a:xfrm>
          <a:prstGeom prst="line">
            <a:avLst/>
          </a:prstGeom>
          <a:ln w="1905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41180" y="1481328"/>
            <a:ext cx="2331720" cy="603504"/>
          </a:xfrm>
          <a:prstGeom prst="roundRect">
            <a:avLst>
              <a:gd name="adj" fmla="val 20000"/>
            </a:avLst>
          </a:prstGeom>
          <a:solidFill>
            <a:srgbClr val="E5DCEC"/>
          </a:solidFill>
          <a:ln w="12700">
            <a:solidFill>
              <a:srgbClr val="6D4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rational ± irrational</a:t>
            </a:r>
          </a:p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= irrational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77172" y="1783080"/>
            <a:ext cx="64008" cy="640080"/>
          </a:xfrm>
          <a:prstGeom prst="line">
            <a:avLst/>
          </a:prstGeom>
          <a:ln w="1905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41180" y="2121408"/>
            <a:ext cx="2331720" cy="603504"/>
          </a:xfrm>
          <a:prstGeom prst="roundRect">
            <a:avLst>
              <a:gd name="adj" fmla="val 20000"/>
            </a:avLst>
          </a:prstGeom>
          <a:solidFill>
            <a:srgbClr val="E5DCEC"/>
          </a:solidFill>
          <a:ln w="12700">
            <a:solidFill>
              <a:srgbClr val="6D4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k × irrational = irrational</a:t>
            </a:r>
          </a:p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(k ≠ 0, k rational)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77172" y="1783080"/>
            <a:ext cx="64008" cy="1280160"/>
          </a:xfrm>
          <a:prstGeom prst="line">
            <a:avLst/>
          </a:prstGeom>
          <a:ln w="1905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41180" y="278892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E5DCEC"/>
          </a:solidFill>
          <a:ln w="12700">
            <a:solidFill>
              <a:srgbClr val="6D4C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3E2B49"/>
                </a:solidFill>
                <a:latin typeface="Calibri"/>
              </a:rPr>
              <a:t>√p + √q is irrational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96304" y="3456432"/>
            <a:ext cx="2206448" cy="1527048"/>
          </a:xfrm>
          <a:prstGeom prst="line">
            <a:avLst/>
          </a:prstGeom>
          <a:ln w="34925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8332" y="4480560"/>
            <a:ext cx="2148840" cy="1005840"/>
          </a:xfrm>
          <a:prstGeom prst="roundRect">
            <a:avLst>
              <a:gd name="adj" fmla="val 20000"/>
            </a:avLst>
          </a:prstGeom>
          <a:solidFill>
            <a:srgbClr val="9C6B1E"/>
          </a:solidFill>
          <a:ln w="19050">
            <a:solidFill>
              <a:srgbClr val="9C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Fundamental Theorem</a:t>
            </a:r>
          </a:p>
          <a:p>
            <a:pPr algn="ctr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of Arithmetic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9377172" y="4023360"/>
            <a:ext cx="64008" cy="960120"/>
          </a:xfrm>
          <a:prstGeom prst="line">
            <a:avLst/>
          </a:prstGeom>
          <a:ln w="1905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441180" y="3721608"/>
            <a:ext cx="2331720" cy="603504"/>
          </a:xfrm>
          <a:prstGeom prst="roundRect">
            <a:avLst>
              <a:gd name="adj" fmla="val 20000"/>
            </a:avLst>
          </a:prstGeom>
          <a:solidFill>
            <a:srgbClr val="F1E5C8"/>
          </a:solidFill>
          <a:ln w="12700">
            <a:solidFill>
              <a:srgbClr val="9C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5A4212"/>
                </a:solidFill>
                <a:latin typeface="Calibri"/>
              </a:rPr>
              <a:t>Composite = product of</a:t>
            </a:r>
          </a:p>
          <a:p>
            <a:pPr algn="ctr">
              <a:lnSpc>
                <a:spcPct val="95000"/>
              </a:lnSpc>
            </a:pPr>
            <a:r>
              <a:rPr sz="1150" b="0">
                <a:solidFill>
                  <a:srgbClr val="5A4212"/>
                </a:solidFill>
                <a:latin typeface="Calibri"/>
              </a:rPr>
              <a:t>primes (unique)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9377172" y="4663440"/>
            <a:ext cx="64008" cy="320040"/>
          </a:xfrm>
          <a:prstGeom prst="line">
            <a:avLst/>
          </a:prstGeom>
          <a:ln w="1905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441180" y="438912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F1E5C8"/>
          </a:solidFill>
          <a:ln w="12700">
            <a:solidFill>
              <a:srgbClr val="9C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5A4212"/>
                </a:solidFill>
                <a:latin typeface="Calibri"/>
              </a:rPr>
              <a:t>Factor tree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377172" y="4983480"/>
            <a:ext cx="64008" cy="320040"/>
          </a:xfrm>
          <a:prstGeom prst="line">
            <a:avLst/>
          </a:prstGeom>
          <a:ln w="1905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441180" y="502920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F1E5C8"/>
          </a:solidFill>
          <a:ln w="12700">
            <a:solidFill>
              <a:srgbClr val="9C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5A4212"/>
                </a:solidFill>
                <a:latin typeface="Calibri"/>
              </a:rPr>
              <a:t>x = p₁ × p₂ × … × pₙ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377172" y="4983480"/>
            <a:ext cx="64008" cy="960120"/>
          </a:xfrm>
          <a:prstGeom prst="line">
            <a:avLst/>
          </a:prstGeom>
          <a:ln w="1905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441180" y="5669280"/>
            <a:ext cx="2331720" cy="548640"/>
          </a:xfrm>
          <a:prstGeom prst="roundRect">
            <a:avLst>
              <a:gd name="adj" fmla="val 20000"/>
            </a:avLst>
          </a:prstGeom>
          <a:solidFill>
            <a:srgbClr val="F1E5C8"/>
          </a:solidFill>
          <a:ln w="12700">
            <a:solidFill>
              <a:srgbClr val="9C6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1150" b="0">
                <a:solidFill>
                  <a:srgbClr val="5A4212"/>
                </a:solidFill>
                <a:latin typeface="Calibri"/>
              </a:rPr>
              <a:t>p | a²  ⇒  p | 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1884" y="2999232"/>
            <a:ext cx="2148840" cy="914400"/>
          </a:xfrm>
          <a:prstGeom prst="roundRect">
            <a:avLst>
              <a:gd name="adj" fmla="val 20000"/>
            </a:avLst>
          </a:prstGeom>
          <a:solidFill>
            <a:srgbClr val="222A33"/>
          </a:solidFill>
          <a:ln w="25400">
            <a:solidFill>
              <a:srgbClr val="C99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95000"/>
              </a:lnSpc>
            </a:pPr>
            <a:r>
              <a:rPr sz="2200" b="1">
                <a:solidFill>
                  <a:srgbClr val="C9952A"/>
                </a:solidFill>
                <a:latin typeface="Calibri"/>
              </a:rPr>
              <a:t>REAL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