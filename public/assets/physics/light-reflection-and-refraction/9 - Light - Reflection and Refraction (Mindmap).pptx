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08960" y="91440"/>
            <a:ext cx="59436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800" b="1">
                <a:solidFill>
                  <a:srgbClr val="F4B82E"/>
                </a:solidFill>
                <a:latin typeface="Calibri"/>
              </a:rPr>
              <a:t>Light – Reflection and Refraction   ·   Mind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08960" y="6428232"/>
            <a:ext cx="5943600" cy="36576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/>
            <a:r>
              <a:rPr sz="1200" b="0">
                <a:solidFill>
                  <a:srgbClr val="9AA0AA"/>
                </a:solidFill>
                <a:latin typeface="Calibri"/>
              </a:rPr>
              <a:t>Class X CBSE   ·   Shubhranshu Sahu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0056" y="2999232"/>
            <a:ext cx="2148840" cy="914400"/>
          </a:xfrm>
          <a:prstGeom prst="roundRect">
            <a:avLst>
              <a:gd name="adj" fmla="val 14000"/>
            </a:avLst>
          </a:prstGeom>
          <a:solidFill>
            <a:srgbClr val="22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500" b="1">
                <a:solidFill>
                  <a:srgbClr val="F4B82E"/>
                </a:solidFill>
                <a:latin typeface="Calibri"/>
              </a:rPr>
              <a:t>LIGHT –</a:t>
            </a:r>
          </a:p>
          <a:p>
            <a:pPr algn="ctr"/>
            <a:r>
              <a:rPr sz="1500" b="1">
                <a:solidFill>
                  <a:srgbClr val="F4B82E"/>
                </a:solidFill>
                <a:latin typeface="Calibri"/>
              </a:rPr>
              <a:t>REFLECTION &amp;</a:t>
            </a:r>
          </a:p>
          <a:p>
            <a:pPr algn="ctr"/>
            <a:r>
              <a:rPr sz="1500" b="1">
                <a:solidFill>
                  <a:srgbClr val="F4B82E"/>
                </a:solidFill>
                <a:latin typeface="Calibri"/>
              </a:rPr>
              <a:t>REFRACTION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3886200" y="1783080"/>
            <a:ext cx="1508760" cy="1463040"/>
          </a:xfrm>
          <a:prstGeom prst="line">
            <a:avLst/>
          </a:prstGeom>
          <a:ln w="2032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3886200" y="4023360"/>
            <a:ext cx="1508760" cy="960120"/>
          </a:xfrm>
          <a:prstGeom prst="line">
            <a:avLst/>
          </a:prstGeom>
          <a:ln w="2032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6766560" y="1783080"/>
            <a:ext cx="1536192" cy="1463040"/>
          </a:xfrm>
          <a:prstGeom prst="line">
            <a:avLst/>
          </a:prstGeom>
          <a:ln w="2032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766560" y="4023360"/>
            <a:ext cx="1536192" cy="822960"/>
          </a:xfrm>
          <a:prstGeom prst="line">
            <a:avLst/>
          </a:prstGeom>
          <a:ln w="2032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16352" y="1417320"/>
            <a:ext cx="2148840" cy="731520"/>
          </a:xfrm>
          <a:prstGeom prst="roundRect">
            <a:avLst>
              <a:gd name="adj" fmla="val 14000"/>
            </a:avLst>
          </a:prstGeom>
          <a:solidFill>
            <a:srgbClr val="3D5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Reflection &amp;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22860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16202B"/>
                </a:solidFill>
                <a:latin typeface="Calibri"/>
              </a:rPr>
              <a:t>Laws: ∠i = ∠r ; rays + normal coplanar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2377440" y="502920"/>
            <a:ext cx="365760" cy="0"/>
          </a:xfrm>
          <a:prstGeom prst="line">
            <a:avLst/>
          </a:prstGeom>
          <a:ln w="1524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11480" y="86868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16202B"/>
                </a:solidFill>
                <a:latin typeface="Calibri"/>
              </a:rPr>
              <a:t>Plane mirror: virtual, erect, same-size, laterally inverted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377440" y="1143000"/>
            <a:ext cx="365760" cy="0"/>
          </a:xfrm>
          <a:prstGeom prst="line">
            <a:avLst/>
          </a:prstGeom>
          <a:ln w="1524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1480" y="150876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16202B"/>
                </a:solidFill>
                <a:latin typeface="Calibri"/>
              </a:rPr>
              <a:t>Spherical: concave (converging) · convex (diverging)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2377440" y="1783080"/>
            <a:ext cx="365760" cy="0"/>
          </a:xfrm>
          <a:prstGeom prst="line">
            <a:avLst/>
          </a:prstGeom>
          <a:ln w="1524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11480" y="214884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16202B"/>
                </a:solidFill>
                <a:latin typeface="Calibri"/>
              </a:rPr>
              <a:t>Terms: P, C, F, R = 2f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377440" y="2423160"/>
            <a:ext cx="365760" cy="0"/>
          </a:xfrm>
          <a:prstGeom prst="line">
            <a:avLst/>
          </a:prstGeom>
          <a:ln w="1524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11480" y="2761488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16202B"/>
                </a:solidFill>
                <a:latin typeface="Calibri"/>
              </a:rPr>
              <a:t>Concave: 6 image cases (∞ → within F)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377440" y="3035808"/>
            <a:ext cx="365760" cy="0"/>
          </a:xfrm>
          <a:prstGeom prst="line">
            <a:avLst/>
          </a:prstGeom>
          <a:ln w="1524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2743200" y="1783080"/>
            <a:ext cx="73152" cy="0"/>
          </a:xfrm>
          <a:prstGeom prst="line">
            <a:avLst/>
          </a:prstGeom>
          <a:ln w="1524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2816352" y="4617720"/>
            <a:ext cx="2148840" cy="731520"/>
          </a:xfrm>
          <a:prstGeom prst="roundRect">
            <a:avLst>
              <a:gd name="adj" fmla="val 14000"/>
            </a:avLst>
          </a:prstGeom>
          <a:solidFill>
            <a:srgbClr val="2E7D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Mirror Formula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&amp; Sign Rule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" y="342900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2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0F2E27"/>
                </a:solidFill>
                <a:latin typeface="Calibri"/>
              </a:rPr>
              <a:t>1/v + 1/u = 1/f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377440" y="3703320"/>
            <a:ext cx="365760" cy="0"/>
          </a:xfrm>
          <a:prstGeom prst="line">
            <a:avLst/>
          </a:prstGeom>
          <a:ln w="1524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11480" y="406908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2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0F2E27"/>
                </a:solidFill>
                <a:latin typeface="Calibri"/>
              </a:rPr>
              <a:t>m = h′/h = −v/u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2377440" y="4343400"/>
            <a:ext cx="365760" cy="0"/>
          </a:xfrm>
          <a:prstGeom prst="line">
            <a:avLst/>
          </a:prstGeom>
          <a:ln w="1524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11480" y="470916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2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0F2E27"/>
                </a:solidFill>
                <a:latin typeface="Calibri"/>
              </a:rPr>
              <a:t>New Cartesian sign convention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2377440" y="4983480"/>
            <a:ext cx="365760" cy="0"/>
          </a:xfrm>
          <a:prstGeom prst="line">
            <a:avLst/>
          </a:prstGeom>
          <a:ln w="1524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11480" y="5321808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2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0F2E27"/>
                </a:solidFill>
                <a:latin typeface="Calibri"/>
              </a:rPr>
              <a:t>Convex mirror: virtual, erect, diminished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2377440" y="5596128"/>
            <a:ext cx="365760" cy="0"/>
          </a:xfrm>
          <a:prstGeom prst="line">
            <a:avLst/>
          </a:prstGeom>
          <a:ln w="1524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11480" y="5961888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D2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0F2E27"/>
                </a:solidFill>
                <a:latin typeface="Calibri"/>
              </a:rPr>
              <a:t>Uses: headlights, rear-view, dentist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2377440" y="6236207"/>
            <a:ext cx="365760" cy="0"/>
          </a:xfrm>
          <a:prstGeom prst="line">
            <a:avLst/>
          </a:prstGeom>
          <a:ln w="1524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7232904" y="1417320"/>
            <a:ext cx="2148840" cy="731520"/>
          </a:xfrm>
          <a:prstGeom prst="roundRect">
            <a:avLst>
              <a:gd name="adj" fmla="val 14000"/>
            </a:avLst>
          </a:prstGeom>
          <a:solidFill>
            <a:srgbClr val="6D4C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Refraction &amp;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Refractive Index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36608" y="22860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E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271A2E"/>
                </a:solidFill>
                <a:latin typeface="Calibri"/>
              </a:rPr>
              <a:t>Bending of light at a boundary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81744" y="502920"/>
            <a:ext cx="54864" cy="0"/>
          </a:xfrm>
          <a:prstGeom prst="line">
            <a:avLst/>
          </a:prstGeom>
          <a:ln w="1524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9436608" y="86868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E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271A2E"/>
                </a:solidFill>
                <a:latin typeface="Calibri"/>
              </a:rPr>
              <a:t>Rarer→denser: towards normal; denser→rarer: away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381744" y="1143000"/>
            <a:ext cx="54864" cy="0"/>
          </a:xfrm>
          <a:prstGeom prst="line">
            <a:avLst/>
          </a:prstGeom>
          <a:ln w="1524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436608" y="150876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E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271A2E"/>
                </a:solidFill>
                <a:latin typeface="Calibri"/>
              </a:rPr>
              <a:t>Snell's law: sin i / sin r = n₂₁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381744" y="1783080"/>
            <a:ext cx="54864" cy="0"/>
          </a:xfrm>
          <a:prstGeom prst="line">
            <a:avLst/>
          </a:prstGeom>
          <a:ln w="1524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436608" y="214884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E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271A2E"/>
                </a:solidFill>
                <a:latin typeface="Calibri"/>
              </a:rPr>
              <a:t>Refractive index n = c / v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381744" y="2423160"/>
            <a:ext cx="54864" cy="0"/>
          </a:xfrm>
          <a:prstGeom prst="line">
            <a:avLst/>
          </a:prstGeom>
          <a:ln w="1524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9436608" y="2761488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E5D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271A2E"/>
                </a:solidFill>
                <a:latin typeface="Calibri"/>
              </a:rPr>
              <a:t>Glass slab: emergent ∥, lateral shift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381744" y="3035808"/>
            <a:ext cx="54864" cy="0"/>
          </a:xfrm>
          <a:prstGeom prst="line">
            <a:avLst/>
          </a:prstGeom>
          <a:ln w="1524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9381744" y="502920"/>
            <a:ext cx="0" cy="1280160"/>
          </a:xfrm>
          <a:prstGeom prst="line">
            <a:avLst/>
          </a:prstGeom>
          <a:ln w="1524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9381744" y="1783080"/>
            <a:ext cx="0" cy="1252728"/>
          </a:xfrm>
          <a:prstGeom prst="line">
            <a:avLst/>
          </a:prstGeom>
          <a:ln w="15240">
            <a:solidFill>
              <a:srgbClr val="6D4C7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232904" y="4480560"/>
            <a:ext cx="2148840" cy="822960"/>
          </a:xfrm>
          <a:prstGeom prst="roundRect">
            <a:avLst>
              <a:gd name="adj" fmla="val 14000"/>
            </a:avLst>
          </a:prstGeom>
          <a:solidFill>
            <a:srgbClr val="9C6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Lenses &amp; Power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36608" y="370332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F1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3A2A0C"/>
                </a:solidFill>
                <a:latin typeface="Calibri"/>
              </a:rPr>
              <a:t>Convex (converging) · Concave (diverging)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9381744" y="3977639"/>
            <a:ext cx="54864" cy="0"/>
          </a:xfrm>
          <a:prstGeom prst="line">
            <a:avLst/>
          </a:prstGeom>
          <a:ln w="1524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9436608" y="434340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F1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3A2A0C"/>
                </a:solidFill>
                <a:latin typeface="Calibri"/>
              </a:rPr>
              <a:t>Rays: ∥→F · through O straight · through F→∥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9381744" y="4617720"/>
            <a:ext cx="54864" cy="0"/>
          </a:xfrm>
          <a:prstGeom prst="line">
            <a:avLst/>
          </a:prstGeom>
          <a:ln w="1524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9436608" y="498348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F1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3A2A0C"/>
                </a:solidFill>
                <a:latin typeface="Calibri"/>
              </a:rPr>
              <a:t>1/v − 1/u = 1/f ;  m = v/u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381744" y="5257800"/>
            <a:ext cx="54864" cy="0"/>
          </a:xfrm>
          <a:prstGeom prst="line">
            <a:avLst/>
          </a:prstGeom>
          <a:ln w="1524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9436608" y="5532120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F1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3A2A0C"/>
                </a:solidFill>
                <a:latin typeface="Calibri"/>
              </a:rPr>
              <a:t>Concave lens: always virtual, erect, small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381744" y="5806440"/>
            <a:ext cx="54864" cy="0"/>
          </a:xfrm>
          <a:prstGeom prst="line">
            <a:avLst/>
          </a:prstGeom>
          <a:ln w="1524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9436608" y="6144768"/>
            <a:ext cx="2331720" cy="548640"/>
          </a:xfrm>
          <a:prstGeom prst="roundRect">
            <a:avLst>
              <a:gd name="adj" fmla="val 14000"/>
            </a:avLst>
          </a:prstGeom>
          <a:solidFill>
            <a:srgbClr val="F1E5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050" b="0">
                <a:solidFill>
                  <a:srgbClr val="3A2A0C"/>
                </a:solidFill>
                <a:latin typeface="Calibri"/>
              </a:rPr>
              <a:t>Power P = 1/f (dioptre) ; powers add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9381744" y="6419088"/>
            <a:ext cx="54864" cy="0"/>
          </a:xfrm>
          <a:prstGeom prst="line">
            <a:avLst/>
          </a:prstGeom>
          <a:ln w="1524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9381744" y="3977639"/>
            <a:ext cx="0" cy="914401"/>
          </a:xfrm>
          <a:prstGeom prst="line">
            <a:avLst/>
          </a:prstGeom>
          <a:ln w="1524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381744" y="4892040"/>
            <a:ext cx="0" cy="1527048"/>
          </a:xfrm>
          <a:prstGeom prst="line">
            <a:avLst/>
          </a:prstGeom>
          <a:ln w="15240">
            <a:solidFill>
              <a:srgbClr val="9C6B1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2743200" y="502920"/>
            <a:ext cx="0" cy="2807208"/>
          </a:xfrm>
          <a:prstGeom prst="line">
            <a:avLst/>
          </a:prstGeom>
          <a:ln w="15240">
            <a:solidFill>
              <a:srgbClr val="3D5A8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2743200" y="3703320"/>
            <a:ext cx="0" cy="2807208"/>
          </a:xfrm>
          <a:prstGeom prst="line">
            <a:avLst/>
          </a:prstGeom>
          <a:ln w="15240">
            <a:solidFill>
              <a:srgbClr val="2E7D6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