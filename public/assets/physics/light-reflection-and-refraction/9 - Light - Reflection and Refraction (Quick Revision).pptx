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234440"/>
            <a:ext cx="10698480" cy="1554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F4B82E"/>
                </a:solidFill>
                <a:latin typeface="Arial Black"/>
              </a:rPr>
              <a:t>LIGHT — REFLECTION</a:t>
            </a:r>
          </a:p>
          <a:p>
            <a:pPr algn="ctr">
              <a:spcAft>
                <a:spcPts val="0"/>
              </a:spcAft>
            </a:pPr>
            <a:r>
              <a:rPr sz="4400" b="1">
                <a:solidFill>
                  <a:srgbClr val="F4B82E"/>
                </a:solidFill>
                <a:latin typeface="Arial Black"/>
              </a:rPr>
              <a:t>AND REFRACTION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80360"/>
            <a:ext cx="106984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>
                <a:solidFill>
                  <a:srgbClr val="C9CCD2"/>
                </a:solidFill>
                <a:latin typeface="Calibri"/>
              </a:rPr>
              <a:t>Class X  ·  CBSE Physics  ·  Chapter 9</a:t>
            </a:r>
          </a:p>
        </p:txBody>
      </p:sp>
      <p:pic>
        <p:nvPicPr>
          <p:cNvPr id="5" name="Picture 4" descr="QR_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8" y="3703320"/>
            <a:ext cx="3255264" cy="3255264"/>
          </a:xfrm>
          <a:prstGeom prst="ellipse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65576" y="6400800"/>
            <a:ext cx="47548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- Shubhranshu Sahu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Let's Rewind and Recall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532120" cy="5074920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074920" cy="4846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What you already know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Light travels in straight lines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Rectilinear propagation; speed in air/vacuum ≈ 3 × 10⁸ m/s.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Reflection from a plane mirror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Bouncing back of light into the same medium.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A shiny surface forms an image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Plane mirror → virtual, erect, same-size, laterally inverted image.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34440"/>
            <a:ext cx="5330952" cy="5074920"/>
          </a:xfrm>
          <a:prstGeom prst="roundRect">
            <a:avLst>
              <a:gd name="adj" fmla="val 6000"/>
            </a:avLst>
          </a:prstGeom>
          <a:solidFill>
            <a:srgbClr val="2B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371600"/>
            <a:ext cx="4937760" cy="4846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What this chapter adds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Spherical mirrors — concave &amp; convex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Ray diagrams &amp; the 6 image cases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Mirror formula &amp; magnification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Refraction &amp; refractive index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Lenses — convex &amp; concave, lens formula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Power of a lens (dioptre)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9CCD2"/>
                </a:solidFill>
                <a:latin typeface="Calibri"/>
              </a:rPr>
              <a:t>Sign convention &amp; formulae make numericals easy — master them early.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Reflection of Light &amp; Its Laws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6309360" cy="4937760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flection_l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48840"/>
            <a:ext cx="5852160" cy="313220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086600" y="1325880"/>
            <a:ext cx="4553712" cy="4937760"/>
          </a:xfrm>
          <a:prstGeom prst="roundRect">
            <a:avLst>
              <a:gd name="adj" fmla="val 6000"/>
            </a:avLst>
          </a:prstGeom>
          <a:solidFill>
            <a:srgbClr val="1F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481328"/>
            <a:ext cx="411480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4B82E"/>
                </a:solidFill>
                <a:latin typeface="Calibri"/>
              </a:rPr>
              <a:t>Two laws of reflection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Law 1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Angle of incidence = angle of reflection  (∠i = ∠r).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Law 2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The incident ray, the reflected ray and the normal at the point of incidence all lie in the same plane.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ED7D31"/>
                </a:solidFill>
                <a:latin typeface="Calibri"/>
              </a:rPr>
              <a:t>Reflection: </a:t>
            </a:r>
            <a:r>
              <a:rPr sz="1300" b="0">
                <a:solidFill>
                  <a:srgbClr val="C9CCD2"/>
                </a:solidFill>
                <a:latin typeface="Calibri"/>
              </a:rPr>
              <a:t>light bounces back into the same medium.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Image Formed by a Plane Mirror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507492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Characteristics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1">
                <a:solidFill>
                  <a:srgbClr val="FFFFFF"/>
                </a:solidFill>
                <a:latin typeface="Calibri"/>
              </a:rPr>
              <a:t>Virtual and erect — </a:t>
            </a:r>
            <a:r>
              <a:rPr sz="1400" b="0">
                <a:solidFill>
                  <a:srgbClr val="FFFFFF"/>
                </a:solidFill>
                <a:latin typeface="Calibri"/>
              </a:rPr>
              <a:t>cannot be caught on a screen; upright.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1">
                <a:solidFill>
                  <a:srgbClr val="FFFFFF"/>
                </a:solidFill>
                <a:latin typeface="Calibri"/>
              </a:rPr>
              <a:t>Same size — </a:t>
            </a:r>
            <a:r>
              <a:rPr sz="1400" b="0">
                <a:solidFill>
                  <a:srgbClr val="FFFFFF"/>
                </a:solidFill>
                <a:latin typeface="Calibri"/>
              </a:rPr>
              <a:t>image size = object size.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1">
                <a:solidFill>
                  <a:srgbClr val="FFFFFF"/>
                </a:solidFill>
                <a:latin typeface="Calibri"/>
              </a:rPr>
              <a:t>Behind the mirror — </a:t>
            </a:r>
            <a:r>
              <a:rPr sz="1400" b="0">
                <a:solidFill>
                  <a:srgbClr val="FFFFFF"/>
                </a:solidFill>
                <a:latin typeface="Calibri"/>
              </a:rPr>
              <a:t>image distance = object distance.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1">
                <a:solidFill>
                  <a:srgbClr val="FFFFFF"/>
                </a:solidFill>
                <a:latin typeface="Calibri"/>
              </a:rPr>
              <a:t>Laterally inverted — </a:t>
            </a:r>
            <a:r>
              <a:rPr sz="1400" b="0">
                <a:solidFill>
                  <a:srgbClr val="FFFFFF"/>
                </a:solidFill>
                <a:latin typeface="Calibri"/>
              </a:rPr>
              <a:t>left ↔ right interchanged.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6000"/>
            </a:avLst>
          </a:prstGeom>
          <a:solidFill>
            <a:srgbClr val="2B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Lateral inversion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The word </a:t>
            </a:r>
            <a:r>
              <a:rPr sz="1400" b="1">
                <a:solidFill>
                  <a:srgbClr val="FFD166"/>
                </a:solidFill>
                <a:latin typeface="Calibri"/>
              </a:rPr>
              <a:t>AMBULANCE</a:t>
            </a:r>
            <a:r>
              <a:rPr sz="1400" b="0">
                <a:solidFill>
                  <a:srgbClr val="FFFFFF"/>
                </a:solidFill>
                <a:latin typeface="Calibri"/>
              </a:rPr>
              <a:t> is written reversed on vehicles so it reads correctly in a driver's rear-view mirror.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Important Result: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 plane mirror always forms a virtual, erect image of the same size, as far behind the mirror as the object is in front.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Spherical Mirrors — Key Terms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6400800" cy="4937760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ms_concave_mi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20240"/>
            <a:ext cx="6035040" cy="363588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78040" y="1325880"/>
            <a:ext cx="4462272" cy="4937760"/>
          </a:xfrm>
          <a:prstGeom prst="roundRect">
            <a:avLst>
              <a:gd name="adj" fmla="val 6000"/>
            </a:avLst>
          </a:prstGeom>
          <a:solidFill>
            <a:srgbClr val="1F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481328"/>
            <a:ext cx="402336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4B82E"/>
                </a:solidFill>
                <a:latin typeface="Calibri"/>
              </a:rPr>
              <a:t>Definitions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FFD166"/>
                </a:solidFill>
                <a:latin typeface="Calibri"/>
              </a:rPr>
              <a:t>Pole (P): </a:t>
            </a:r>
            <a:r>
              <a:rPr sz="1350" b="0">
                <a:solidFill>
                  <a:srgbClr val="FFFFFF"/>
                </a:solidFill>
                <a:latin typeface="Calibri"/>
              </a:rPr>
              <a:t>centre of the mirror surface.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FFD166"/>
                </a:solidFill>
                <a:latin typeface="Calibri"/>
              </a:rPr>
              <a:t>Centre of curvature (C): </a:t>
            </a:r>
            <a:r>
              <a:rPr sz="1350" b="0">
                <a:solidFill>
                  <a:srgbClr val="FFFFFF"/>
                </a:solidFill>
                <a:latin typeface="Calibri"/>
              </a:rPr>
              <a:t>centre of the sphere the mirror is part of.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FFD166"/>
                </a:solidFill>
                <a:latin typeface="Calibri"/>
              </a:rPr>
              <a:t>Radius of curvature (R): </a:t>
            </a:r>
            <a:r>
              <a:rPr sz="1350" b="0">
                <a:solidFill>
                  <a:srgbClr val="FFFFFF"/>
                </a:solidFill>
                <a:latin typeface="Calibri"/>
              </a:rPr>
              <a:t>distance PC.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FFD166"/>
                </a:solidFill>
                <a:latin typeface="Calibri"/>
              </a:rPr>
              <a:t>Principal focus (F): </a:t>
            </a:r>
            <a:r>
              <a:rPr sz="1350" b="0">
                <a:solidFill>
                  <a:srgbClr val="FFFFFF"/>
                </a:solidFill>
                <a:latin typeface="Calibri"/>
              </a:rPr>
              <a:t>where rays parallel to the axis meet (concave) or appear to diverge from (convex).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FFD166"/>
                </a:solidFill>
                <a:latin typeface="Calibri"/>
              </a:rPr>
              <a:t>Focal length (f): </a:t>
            </a:r>
            <a:r>
              <a:rPr sz="1350" b="0">
                <a:solidFill>
                  <a:srgbClr val="FFFFFF"/>
                </a:solidFill>
                <a:latin typeface="Calibri"/>
              </a:rPr>
              <a:t>distance PF.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600" b="1">
                <a:solidFill>
                  <a:srgbClr val="ED7D31"/>
                </a:solidFill>
                <a:latin typeface="Calibri"/>
              </a:rPr>
              <a:t>R = 2f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Rules for Drawing Ray Diagrams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507492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For spherical mirrors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1. </a:t>
            </a:r>
            <a:r>
              <a:rPr sz="1400" b="0">
                <a:solidFill>
                  <a:srgbClr val="FFFFFF"/>
                </a:solidFill>
                <a:latin typeface="Calibri"/>
              </a:rPr>
              <a:t>A ray parallel to the principal axis passes through F after reflection.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2. </a:t>
            </a:r>
            <a:r>
              <a:rPr sz="1400" b="0">
                <a:solidFill>
                  <a:srgbClr val="FFFFFF"/>
                </a:solidFill>
                <a:latin typeface="Calibri"/>
              </a:rPr>
              <a:t>A ray through F becomes parallel to the principal axis.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3. </a:t>
            </a:r>
            <a:r>
              <a:rPr sz="1400" b="0">
                <a:solidFill>
                  <a:srgbClr val="FFFFFF"/>
                </a:solidFill>
                <a:latin typeface="Calibri"/>
              </a:rPr>
              <a:t>A ray through C retraces its path (hits normally).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4. </a:t>
            </a:r>
            <a:r>
              <a:rPr sz="1400" b="0">
                <a:solidFill>
                  <a:srgbClr val="FFFFFF"/>
                </a:solidFill>
                <a:latin typeface="Calibri"/>
              </a:rPr>
              <a:t>A ray striking the pole reflects making equal angles with the axis.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6000"/>
            </a:avLst>
          </a:prstGeom>
          <a:solidFill>
            <a:srgbClr val="2B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Two types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Concave (converging)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Reflecting surface curves inward; converges parallel light to a real focus.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Convex (diverging)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Reflecting surface bulges outward; diverges parallel light (virtual focus).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9CCD2"/>
                </a:solidFill>
                <a:latin typeface="Calibri"/>
              </a:rPr>
              <a:t>Any two rays are enough to locate the image.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Concave Mirror — Image Formation (1)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53933"/>
            <a:ext cx="5623560" cy="3527373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ir_cc_1_infin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" y="2282533"/>
            <a:ext cx="5486400" cy="267081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63640" y="2053933"/>
            <a:ext cx="5623560" cy="3527373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ir_cc_2_beyon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220" y="2282533"/>
            <a:ext cx="5486400" cy="26708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Concave Mirror — Image Formation (2)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53933"/>
            <a:ext cx="5623560" cy="3527373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ir_cc_3_at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" y="2282533"/>
            <a:ext cx="5486400" cy="267081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63640" y="2053933"/>
            <a:ext cx="5623560" cy="3527373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ir_cc_4_C_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220" y="2282533"/>
            <a:ext cx="5486400" cy="26708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Concave Mirror — Image Formation (3)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53933"/>
            <a:ext cx="5623560" cy="3527373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ir_cc_5_at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" y="2282533"/>
            <a:ext cx="5486400" cy="267081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63640" y="2053933"/>
            <a:ext cx="5623560" cy="3527373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ir_cc_6_F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220" y="2282533"/>
            <a:ext cx="5486400" cy="25777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Concave Mirror — Summary of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1672" cy="4937760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60020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926080"/>
                <a:gridCol w="2377440"/>
                <a:gridCol w="2468880"/>
              </a:tblGrid>
              <a:tr h="627017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C"/>
                          </a:solidFill>
                          <a:latin typeface="Calibri"/>
                        </a:rPr>
                        <a:t>Position of object</a:t>
                      </a:r>
                    </a:p>
                  </a:txBody>
                  <a:tcPr anchor="ctr" marT="25400" marB="25400">
                    <a:solidFill>
                      <a:srgbClr val="F4B8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C"/>
                          </a:solidFill>
                          <a:latin typeface="Calibri"/>
                        </a:rPr>
                        <a:t>Position of image</a:t>
                      </a:r>
                    </a:p>
                  </a:txBody>
                  <a:tcPr anchor="ctr" marT="25400" marB="25400">
                    <a:solidFill>
                      <a:srgbClr val="F4B8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C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anchor="ctr" marT="25400" marB="25400">
                    <a:solidFill>
                      <a:srgbClr val="F4B8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C"/>
                          </a:solidFill>
                          <a:latin typeface="Calibri"/>
                        </a:rPr>
                        <a:t>Nature</a:t>
                      </a:r>
                    </a:p>
                  </a:txBody>
                  <a:tcPr anchor="ctr" marT="25400" marB="25400">
                    <a:solidFill>
                      <a:srgbClr val="F4B82E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At infinity</a:t>
                      </a:r>
                    </a:p>
                  </a:txBody>
                  <a:tcPr anchor="ctr" marT="25400" marB="25400">
                    <a:solidFill>
                      <a:srgbClr val="2B2B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At F</a:t>
                      </a:r>
                    </a:p>
                  </a:txBody>
                  <a:tcPr anchor="ctr" marT="25400" marB="25400">
                    <a:solidFill>
                      <a:srgbClr val="2B2B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Point-sized</a:t>
                      </a:r>
                    </a:p>
                  </a:txBody>
                  <a:tcPr anchor="ctr" marT="25400" marB="25400">
                    <a:solidFill>
                      <a:srgbClr val="2B2B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Real, inverted</a:t>
                      </a:r>
                    </a:p>
                  </a:txBody>
                  <a:tcPr anchor="ctr" marT="25400" marB="25400">
                    <a:solidFill>
                      <a:srgbClr val="2B2B20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Beyond C</a:t>
                      </a:r>
                    </a:p>
                  </a:txBody>
                  <a:tcPr anchor="ctr" marT="25400" marB="25400">
                    <a:solidFill>
                      <a:srgbClr val="2626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Between F and C</a:t>
                      </a:r>
                    </a:p>
                  </a:txBody>
                  <a:tcPr anchor="ctr" marT="25400" marB="25400">
                    <a:solidFill>
                      <a:srgbClr val="2626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Diminished</a:t>
                      </a:r>
                    </a:p>
                  </a:txBody>
                  <a:tcPr anchor="ctr" marT="25400" marB="25400">
                    <a:solidFill>
                      <a:srgbClr val="2626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Real, inverted</a:t>
                      </a:r>
                    </a:p>
                  </a:txBody>
                  <a:tcPr anchor="ctr" marT="25400" marB="25400">
                    <a:solidFill>
                      <a:srgbClr val="26262A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At C</a:t>
                      </a:r>
                    </a:p>
                  </a:txBody>
                  <a:tcPr anchor="ctr" marT="25400" marB="25400">
                    <a:solidFill>
                      <a:srgbClr val="2B2B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At C</a:t>
                      </a:r>
                    </a:p>
                  </a:txBody>
                  <a:tcPr anchor="ctr" marT="25400" marB="25400">
                    <a:solidFill>
                      <a:srgbClr val="2B2B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Same size</a:t>
                      </a:r>
                    </a:p>
                  </a:txBody>
                  <a:tcPr anchor="ctr" marT="25400" marB="25400">
                    <a:solidFill>
                      <a:srgbClr val="2B2B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Real, inverted</a:t>
                      </a:r>
                    </a:p>
                  </a:txBody>
                  <a:tcPr anchor="ctr" marT="25400" marB="25400">
                    <a:solidFill>
                      <a:srgbClr val="2B2B20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Between C and F</a:t>
                      </a:r>
                    </a:p>
                  </a:txBody>
                  <a:tcPr anchor="ctr" marT="25400" marB="25400">
                    <a:solidFill>
                      <a:srgbClr val="2626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Beyond C</a:t>
                      </a:r>
                    </a:p>
                  </a:txBody>
                  <a:tcPr anchor="ctr" marT="25400" marB="25400">
                    <a:solidFill>
                      <a:srgbClr val="2626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Enlarged</a:t>
                      </a:r>
                    </a:p>
                  </a:txBody>
                  <a:tcPr anchor="ctr" marT="25400" marB="25400">
                    <a:solidFill>
                      <a:srgbClr val="2626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Real, inverted</a:t>
                      </a:r>
                    </a:p>
                  </a:txBody>
                  <a:tcPr anchor="ctr" marT="25400" marB="25400">
                    <a:solidFill>
                      <a:srgbClr val="26262A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At F</a:t>
                      </a:r>
                    </a:p>
                  </a:txBody>
                  <a:tcPr anchor="ctr" marT="25400" marB="25400">
                    <a:solidFill>
                      <a:srgbClr val="2B2B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At infinity</a:t>
                      </a:r>
                    </a:p>
                  </a:txBody>
                  <a:tcPr anchor="ctr" marT="25400" marB="25400">
                    <a:solidFill>
                      <a:srgbClr val="2B2B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Highly enlarged</a:t>
                      </a:r>
                    </a:p>
                  </a:txBody>
                  <a:tcPr anchor="ctr" marT="25400" marB="25400">
                    <a:solidFill>
                      <a:srgbClr val="2B2B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Real, inverted</a:t>
                      </a:r>
                    </a:p>
                  </a:txBody>
                  <a:tcPr anchor="ctr" marT="25400" marB="25400">
                    <a:solidFill>
                      <a:srgbClr val="2B2B20"/>
                    </a:solidFill>
                  </a:tcPr>
                </a:tc>
              </a:tr>
              <a:tr h="62701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Between F and P</a:t>
                      </a:r>
                    </a:p>
                  </a:txBody>
                  <a:tcPr anchor="ctr" marT="25400" marB="25400">
                    <a:solidFill>
                      <a:srgbClr val="2626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Behind the mirror</a:t>
                      </a:r>
                    </a:p>
                  </a:txBody>
                  <a:tcPr anchor="ctr" marT="25400" marB="25400">
                    <a:solidFill>
                      <a:srgbClr val="2626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Enlarged</a:t>
                      </a:r>
                    </a:p>
                  </a:txBody>
                  <a:tcPr anchor="ctr" marT="25400" marB="25400">
                    <a:solidFill>
                      <a:srgbClr val="2626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Virtual, erect</a:t>
                      </a:r>
                    </a:p>
                  </a:txBody>
                  <a:tcPr anchor="ctr" marT="25400" marB="25400">
                    <a:solidFill>
                      <a:srgbClr val="2626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Convex Mirror — Image 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53933"/>
            <a:ext cx="5623560" cy="3527373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ir_cx_1_infin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" y="2282533"/>
            <a:ext cx="5486400" cy="10723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63640" y="2053933"/>
            <a:ext cx="5623560" cy="3527373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ir_cx_2_n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220" y="2282533"/>
            <a:ext cx="5486400" cy="2266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Uses of Spherical Mirrors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507492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Concave mirror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Shaving &amp; make-up mirrors (enlarged erect image when face is close).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Dentists' mirrors to see enlarged teeth.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Reflectors in torches, headlights &amp; searchlights (source at F → parallel beam).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Solar furnaces to concentrate sunlight.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6000"/>
            </a:avLst>
          </a:prstGeom>
          <a:solidFill>
            <a:srgbClr val="33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D7D31"/>
                </a:solidFill>
                <a:latin typeface="Calibri"/>
              </a:rPr>
              <a:t>Convex mirror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Rear-view (wing) mirrors in vehicles.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They give an erect, diminished image and a wider field of view.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Used on blind turns and in big stores for security surveillance.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Street-light reflectors to spread light over a large area.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New Cartesian Sign Convention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507492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The rules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The pole (P) / optical centre (O) is the origin.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All distances are measured from P (or O).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Distances measured along the incident light (to the right) are +ve; against it (to the left) are −ve.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Heights above the principal axis are +ve; below are −ve.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6000"/>
            </a:avLst>
          </a:prstGeom>
          <a:solidFill>
            <a:srgbClr val="2B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What it means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Object distance u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Always −ve (object is in front, to the left).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Focal length f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Concave mirror &amp; convex lens: −ve / +ve respectively; convex mirror &amp; concave lens: +ve / −ve.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Important Result: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Put signs in FIRST, then solve — most numerical errors are sign slips.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Mirror Formula &amp; Magnification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507492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Mirror formula</a:t>
            </a:r>
          </a:p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1/v + 1/u = 1/f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v</a:t>
            </a:r>
            <a:r>
              <a:rPr sz="1400" b="0">
                <a:solidFill>
                  <a:srgbClr val="FFFFFF"/>
                </a:solidFill>
                <a:latin typeface="Calibri"/>
              </a:rPr>
              <a:t> = image distance,  </a:t>
            </a:r>
            <a:r>
              <a:rPr sz="1400" b="1">
                <a:solidFill>
                  <a:srgbClr val="FFD166"/>
                </a:solidFill>
                <a:latin typeface="Calibri"/>
              </a:rPr>
              <a:t>u</a:t>
            </a:r>
            <a:r>
              <a:rPr sz="1400" b="0">
                <a:solidFill>
                  <a:srgbClr val="FFFFFF"/>
                </a:solidFill>
                <a:latin typeface="Calibri"/>
              </a:rPr>
              <a:t> = object distance,  </a:t>
            </a:r>
            <a:r>
              <a:rPr sz="1400" b="1">
                <a:solidFill>
                  <a:srgbClr val="FFD166"/>
                </a:solidFill>
                <a:latin typeface="Calibri"/>
              </a:rPr>
              <a:t>f</a:t>
            </a:r>
            <a:r>
              <a:rPr sz="1400" b="0">
                <a:solidFill>
                  <a:srgbClr val="FFFFFF"/>
                </a:solidFill>
                <a:latin typeface="Calibri"/>
              </a:rPr>
              <a:t> = focal length.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ED7D31"/>
                </a:solidFill>
                <a:latin typeface="Calibri"/>
              </a:rPr>
              <a:t>R = 2f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9CCD2"/>
                </a:solidFill>
                <a:latin typeface="Calibri"/>
              </a:rPr>
              <a:t>Links radius of curvature to focal length.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6000"/>
            </a:avLst>
          </a:prstGeom>
          <a:solidFill>
            <a:srgbClr val="2B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Magnification</a:t>
            </a:r>
          </a:p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m = h′/h = −v/u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h′</a:t>
            </a:r>
            <a:r>
              <a:rPr sz="1400" b="0">
                <a:solidFill>
                  <a:srgbClr val="FFFFFF"/>
                </a:solidFill>
                <a:latin typeface="Calibri"/>
              </a:rPr>
              <a:t> = image height,  </a:t>
            </a:r>
            <a:r>
              <a:rPr sz="1400" b="1">
                <a:solidFill>
                  <a:srgbClr val="FFD166"/>
                </a:solidFill>
                <a:latin typeface="Calibri"/>
              </a:rPr>
              <a:t>h</a:t>
            </a:r>
            <a:r>
              <a:rPr sz="1400" b="0">
                <a:solidFill>
                  <a:srgbClr val="FFFFFF"/>
                </a:solidFill>
                <a:latin typeface="Calibri"/>
              </a:rPr>
              <a:t> = object height.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Reading the sign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m −ve → real &amp; inverted image; m +ve → virtual &amp; erect image. |m| &gt; 1 enlarged, &lt; 1 diminished.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Worked Example — Concave Mirror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6675120" cy="4937760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640080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4B82E"/>
                </a:solidFill>
                <a:latin typeface="Calibri"/>
              </a:rPr>
              <a:t>Problem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An object is placed 15 cm from a concave mirror of focal length 10 cm. Find the image position, magnification and nature.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F4B82E"/>
                </a:solidFill>
                <a:latin typeface="Calibri"/>
              </a:rPr>
              <a:t>Solution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mbria Math"/>
              </a:rPr>
              <a:t>u = −15 cm,  f = −10 cm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mbria Math"/>
              </a:rPr>
              <a:t>1/v = 1/f − 1/u = −1/10 + 1/15 = −1/30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D166"/>
                </a:solidFill>
                <a:latin typeface="Cambria Math"/>
              </a:rPr>
              <a:t>v = −30 cm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mbria Math"/>
              </a:rPr>
              <a:t>m = −v/u = −(−30)/(−15) = −2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Image: 30 cm in front, real, inverted, twice the size (enlarged).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325880"/>
            <a:ext cx="4462272" cy="4937760"/>
          </a:xfrm>
          <a:prstGeom prst="roundRect">
            <a:avLst>
              <a:gd name="adj" fmla="val 6000"/>
            </a:avLst>
          </a:prstGeom>
          <a:solidFill>
            <a:srgbClr val="1F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481328"/>
            <a:ext cx="402336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4B82E"/>
                </a:solidFill>
                <a:latin typeface="Calibri"/>
              </a:rPr>
              <a:t>Checkpoints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Object between C and F (15 cm, with C = 20, F = 10).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So image is beyond C — real, inverted, enlarged. ✓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v is −ve → image in front (real). ✓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m is −ve → inverted. 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Refraction of Light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4023360" cy="4937760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fr_rarer_den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86000"/>
            <a:ext cx="3749039" cy="302719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754880" y="1325880"/>
            <a:ext cx="4023360" cy="4937760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fr_denser_rar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286000"/>
            <a:ext cx="3749039" cy="302719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961120" y="1325880"/>
            <a:ext cx="2679192" cy="4937760"/>
          </a:xfrm>
          <a:prstGeom prst="roundRect">
            <a:avLst>
              <a:gd name="adj" fmla="val 6000"/>
            </a:avLst>
          </a:prstGeom>
          <a:solidFill>
            <a:srgbClr val="2B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1481328"/>
            <a:ext cx="233172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4B82E"/>
                </a:solidFill>
                <a:latin typeface="Calibri"/>
              </a:rPr>
              <a:t>The rule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Rarer → denser: bends towards the normal.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Denser → rarer: bends away from the normal.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C9CCD2"/>
                </a:solidFill>
                <a:latin typeface="Calibri"/>
              </a:rPr>
              <a:t>No bending if it hits along the normal (i = 0).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Refraction Through a Glass Slab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6675120" cy="4937760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fr_glass_s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37360"/>
            <a:ext cx="6400800" cy="41368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60920" y="1325880"/>
            <a:ext cx="4279392" cy="4937760"/>
          </a:xfrm>
          <a:prstGeom prst="roundRect">
            <a:avLst>
              <a:gd name="adj" fmla="val 6000"/>
            </a:avLst>
          </a:prstGeom>
          <a:solidFill>
            <a:srgbClr val="1F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481328"/>
            <a:ext cx="384048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4B82E"/>
                </a:solidFill>
                <a:latin typeface="Calibri"/>
              </a:rPr>
              <a:t>Key ideas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Light bends towards the normal on entering glass (denser), and away on leaving.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The emergent ray is parallel to the incident ray.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It is shifted sideways — the lateral displacement.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ED7D31"/>
                </a:solidFill>
                <a:latin typeface="Calibri"/>
              </a:rPr>
              <a:t>Important Result: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Net bending is zero; only a sideways shift remains.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Laws of Refraction &amp; Refractive Index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806440" cy="4937760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534924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Laws of refraction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1. </a:t>
            </a:r>
            <a:r>
              <a:rPr sz="1400" b="0">
                <a:solidFill>
                  <a:srgbClr val="FFFFFF"/>
                </a:solidFill>
                <a:latin typeface="Calibri"/>
              </a:rPr>
              <a:t>The incident ray, refracted ray and normal lie in the same plane.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2. </a:t>
            </a:r>
            <a:r>
              <a:rPr sz="1400" b="0">
                <a:solidFill>
                  <a:srgbClr val="FFFFFF"/>
                </a:solidFill>
                <a:latin typeface="Calibri"/>
              </a:rPr>
              <a:t>Snell's law: sin i / sin r = constant.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mbria Math"/>
              </a:rPr>
              <a:t>sin i / sin r = n₂₁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Refractive index</a:t>
            </a:r>
          </a:p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mbria Math"/>
              </a:rPr>
              <a:t>n = c / v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9CCD2"/>
                </a:solidFill>
                <a:latin typeface="Calibri"/>
              </a:rPr>
              <a:t>c = speed of light in vacuum; v = speed in the medium.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25880"/>
            <a:ext cx="5148072" cy="4937760"/>
          </a:xfrm>
          <a:prstGeom prst="roundRect">
            <a:avLst>
              <a:gd name="adj" fmla="val 6000"/>
            </a:avLst>
          </a:prstGeom>
          <a:solidFill>
            <a:srgbClr val="2B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463040"/>
            <a:ext cx="47091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4B82E"/>
                </a:solidFill>
                <a:latin typeface="Calibri"/>
              </a:rPr>
              <a:t>Absolute refractive index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720840" y="2011680"/>
          <a:ext cx="46634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55448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C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T="12700" marB="12700">
                    <a:solidFill>
                      <a:srgbClr val="F4B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C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T="12700" marB="12700">
                    <a:solidFill>
                      <a:srgbClr val="F4B8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Air</a:t>
                      </a:r>
                    </a:p>
                  </a:txBody>
                  <a:tcPr anchor="ctr" marT="12700" marB="12700">
                    <a:solidFill>
                      <a:srgbClr val="262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1.0003</a:t>
                      </a:r>
                    </a:p>
                  </a:txBody>
                  <a:tcPr anchor="ctr" marT="12700" marB="12700">
                    <a:solidFill>
                      <a:srgbClr val="2626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Water</a:t>
                      </a:r>
                    </a:p>
                  </a:txBody>
                  <a:tcPr anchor="ctr" marT="12700" marB="12700">
                    <a:solidFill>
                      <a:srgbClr val="3A3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1.33</a:t>
                      </a:r>
                    </a:p>
                  </a:txBody>
                  <a:tcPr anchor="ctr" marT="12700" marB="12700">
                    <a:solidFill>
                      <a:srgbClr val="3A3A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Crown glass</a:t>
                      </a:r>
                    </a:p>
                  </a:txBody>
                  <a:tcPr anchor="ctr" marT="12700" marB="12700">
                    <a:solidFill>
                      <a:srgbClr val="262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1.52</a:t>
                      </a:r>
                    </a:p>
                  </a:txBody>
                  <a:tcPr anchor="ctr" marT="12700" marB="12700">
                    <a:solidFill>
                      <a:srgbClr val="2626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Diamond</a:t>
                      </a:r>
                    </a:p>
                  </a:txBody>
                  <a:tcPr anchor="ctr" marT="12700" marB="12700">
                    <a:solidFill>
                      <a:srgbClr val="3A3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2.42</a:t>
                      </a:r>
                    </a:p>
                  </a:txBody>
                  <a:tcPr anchor="ctr" marT="12700" marB="12700">
                    <a:solidFill>
                      <a:srgbClr val="3A3A2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20840" y="4892040"/>
            <a:ext cx="4709160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9CCD2"/>
                </a:solidFill>
                <a:latin typeface="Calibri"/>
              </a:rPr>
              <a:t>Higher n → optically denser → light travels slower. Kerosene (1.44) is optically denser than water (1.33).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Spherical Lenses — Key Terms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6858000" cy="4937760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ms_convex_le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14600"/>
            <a:ext cx="6492240" cy="286046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325880"/>
            <a:ext cx="4096512" cy="4937760"/>
          </a:xfrm>
          <a:prstGeom prst="roundRect">
            <a:avLst>
              <a:gd name="adj" fmla="val 6000"/>
            </a:avLst>
          </a:prstGeom>
          <a:solidFill>
            <a:srgbClr val="1F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481328"/>
            <a:ext cx="365760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4B82E"/>
                </a:solidFill>
                <a:latin typeface="Calibri"/>
              </a:rPr>
              <a:t>Definitions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FFD166"/>
                </a:solidFill>
                <a:latin typeface="Calibri"/>
              </a:rPr>
              <a:t>Optical centre (O): </a:t>
            </a:r>
            <a:r>
              <a:rPr sz="1350" b="0">
                <a:solidFill>
                  <a:srgbClr val="FFFFFF"/>
                </a:solidFill>
                <a:latin typeface="Calibri"/>
              </a:rPr>
              <a:t>central point; a ray through it goes undeviated.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FFD166"/>
                </a:solidFill>
                <a:latin typeface="Calibri"/>
              </a:rPr>
              <a:t>Principal axis: </a:t>
            </a:r>
            <a:r>
              <a:rPr sz="1350" b="0">
                <a:solidFill>
                  <a:srgbClr val="FFFFFF"/>
                </a:solidFill>
                <a:latin typeface="Calibri"/>
              </a:rPr>
              <a:t>line through O and the centres of curvature.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FFD166"/>
                </a:solidFill>
                <a:latin typeface="Calibri"/>
              </a:rPr>
              <a:t>Principal focus (F): </a:t>
            </a:r>
            <a:r>
              <a:rPr sz="1350" b="0">
                <a:solidFill>
                  <a:srgbClr val="FFFFFF"/>
                </a:solidFill>
                <a:latin typeface="Calibri"/>
              </a:rPr>
              <a:t>a lens has two — one on each side.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FFD166"/>
                </a:solidFill>
                <a:latin typeface="Calibri"/>
              </a:rPr>
              <a:t>Focal length (f): </a:t>
            </a:r>
            <a:r>
              <a:rPr sz="1350" b="0">
                <a:solidFill>
                  <a:srgbClr val="FFFFFF"/>
                </a:solidFill>
                <a:latin typeface="Calibri"/>
              </a:rPr>
              <a:t>distance OF.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400" b="1">
                <a:solidFill>
                  <a:srgbClr val="ED7D31"/>
                </a:solidFill>
                <a:latin typeface="Calibri"/>
              </a:rPr>
              <a:t>Convex = converging;  Concave = diverging.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Rules for Image Formation by Lenses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507492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Three rays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1. </a:t>
            </a:r>
            <a:r>
              <a:rPr sz="1400" b="0">
                <a:solidFill>
                  <a:srgbClr val="FFFFFF"/>
                </a:solidFill>
                <a:latin typeface="Calibri"/>
              </a:rPr>
              <a:t>A ray parallel to the axis passes through the focus F₂ (convex) / appears to come from F₁ (concave).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2. </a:t>
            </a:r>
            <a:r>
              <a:rPr sz="1400" b="0">
                <a:solidFill>
                  <a:srgbClr val="FFFFFF"/>
                </a:solidFill>
                <a:latin typeface="Calibri"/>
              </a:rPr>
              <a:t>A ray through the focus emerges parallel to the axis.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3. </a:t>
            </a:r>
            <a:r>
              <a:rPr sz="1400" b="0">
                <a:solidFill>
                  <a:srgbClr val="FFFFFF"/>
                </a:solidFill>
                <a:latin typeface="Calibri"/>
              </a:rPr>
              <a:t>A ray through the optical centre O goes straight, undeviated.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6000"/>
            </a:avLst>
          </a:prstGeom>
          <a:solidFill>
            <a:srgbClr val="2B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Remember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Convex lens: image real &amp; inverted for objects beyond F; virtual &amp; erect within F.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Concave lens: image ALWAYS virtual, erect and diminished.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C9CCD2"/>
                </a:solidFill>
                <a:latin typeface="Calibri"/>
              </a:rPr>
              <a:t>Any two of the three rays locate the image.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Convex Lens — Image Formation (1)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53933"/>
            <a:ext cx="5623560" cy="3527373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ens_cx_1_infin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" y="2282533"/>
            <a:ext cx="5486400" cy="253648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63640" y="2053933"/>
            <a:ext cx="5623560" cy="3527373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ens_cx_2_beyond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220" y="2282533"/>
            <a:ext cx="5486400" cy="250668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Convex Lens — Image Formation (2)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53933"/>
            <a:ext cx="5623560" cy="3527373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ens_cx_3_at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" y="2282533"/>
            <a:ext cx="5486400" cy="23837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63640" y="2053933"/>
            <a:ext cx="5623560" cy="3527373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ens_cx_4_2F_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220" y="2282533"/>
            <a:ext cx="5486400" cy="205227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Convex Lens — Image Formation (3)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53933"/>
            <a:ext cx="5623560" cy="3527373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ens_cx_5_at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" y="2282533"/>
            <a:ext cx="5486400" cy="24806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63640" y="2053933"/>
            <a:ext cx="5623560" cy="3527373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ens_cx_6_within_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220" y="2282533"/>
            <a:ext cx="5486400" cy="228320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Convex Lens — Summary of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1672" cy="4937760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60020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017520"/>
                <a:gridCol w="2286000"/>
                <a:gridCol w="2377440"/>
              </a:tblGrid>
              <a:tr h="627017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C"/>
                          </a:solidFill>
                          <a:latin typeface="Calibri"/>
                        </a:rPr>
                        <a:t>Position of object</a:t>
                      </a:r>
                    </a:p>
                  </a:txBody>
                  <a:tcPr anchor="ctr" marT="25400" marB="25400">
                    <a:solidFill>
                      <a:srgbClr val="F4B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C"/>
                          </a:solidFill>
                          <a:latin typeface="Calibri"/>
                        </a:rPr>
                        <a:t>Position of image</a:t>
                      </a:r>
                    </a:p>
                  </a:txBody>
                  <a:tcPr anchor="ctr" marT="25400" marB="25400">
                    <a:solidFill>
                      <a:srgbClr val="F4B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C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anchor="ctr" marT="25400" marB="25400">
                    <a:solidFill>
                      <a:srgbClr val="F4B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C"/>
                          </a:solidFill>
                          <a:latin typeface="Calibri"/>
                        </a:rPr>
                        <a:t>Nature</a:t>
                      </a:r>
                    </a:p>
                  </a:txBody>
                  <a:tcPr anchor="ctr" marT="25400" marB="25400">
                    <a:solidFill>
                      <a:srgbClr val="F4B82E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At infinity</a:t>
                      </a:r>
                    </a:p>
                  </a:txBody>
                  <a:tcPr anchor="ctr" marT="25400" marB="25400">
                    <a:solidFill>
                      <a:srgbClr val="2B2B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At focus F₂</a:t>
                      </a:r>
                    </a:p>
                  </a:txBody>
                  <a:tcPr anchor="ctr" marT="25400" marB="25400">
                    <a:solidFill>
                      <a:srgbClr val="2B2B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Point-sized</a:t>
                      </a:r>
                    </a:p>
                  </a:txBody>
                  <a:tcPr anchor="ctr" marT="25400" marB="25400">
                    <a:solidFill>
                      <a:srgbClr val="2B2B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Real, inverted</a:t>
                      </a:r>
                    </a:p>
                  </a:txBody>
                  <a:tcPr anchor="ctr" marT="25400" marB="25400">
                    <a:solidFill>
                      <a:srgbClr val="2B2B20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Beyond 2F₁</a:t>
                      </a:r>
                    </a:p>
                  </a:txBody>
                  <a:tcPr anchor="ctr" marT="25400" marB="25400">
                    <a:solidFill>
                      <a:srgbClr val="262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Between F₂ and 2F₂</a:t>
                      </a:r>
                    </a:p>
                  </a:txBody>
                  <a:tcPr anchor="ctr" marT="25400" marB="25400">
                    <a:solidFill>
                      <a:srgbClr val="262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Diminished</a:t>
                      </a:r>
                    </a:p>
                  </a:txBody>
                  <a:tcPr anchor="ctr" marT="25400" marB="25400">
                    <a:solidFill>
                      <a:srgbClr val="262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Real, inverted</a:t>
                      </a:r>
                    </a:p>
                  </a:txBody>
                  <a:tcPr anchor="ctr" marT="25400" marB="25400">
                    <a:solidFill>
                      <a:srgbClr val="26262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At 2F₁</a:t>
                      </a:r>
                    </a:p>
                  </a:txBody>
                  <a:tcPr anchor="ctr" marT="25400" marB="25400">
                    <a:solidFill>
                      <a:srgbClr val="2B2B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At 2F₂</a:t>
                      </a:r>
                    </a:p>
                  </a:txBody>
                  <a:tcPr anchor="ctr" marT="25400" marB="25400">
                    <a:solidFill>
                      <a:srgbClr val="2B2B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Same size</a:t>
                      </a:r>
                    </a:p>
                  </a:txBody>
                  <a:tcPr anchor="ctr" marT="25400" marB="25400">
                    <a:solidFill>
                      <a:srgbClr val="2B2B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Real, inverted</a:t>
                      </a:r>
                    </a:p>
                  </a:txBody>
                  <a:tcPr anchor="ctr" marT="25400" marB="25400">
                    <a:solidFill>
                      <a:srgbClr val="2B2B20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Between F₁ and 2F₁</a:t>
                      </a:r>
                    </a:p>
                  </a:txBody>
                  <a:tcPr anchor="ctr" marT="25400" marB="25400">
                    <a:solidFill>
                      <a:srgbClr val="262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Beyond 2F₂</a:t>
                      </a:r>
                    </a:p>
                  </a:txBody>
                  <a:tcPr anchor="ctr" marT="25400" marB="25400">
                    <a:solidFill>
                      <a:srgbClr val="262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Enlarged</a:t>
                      </a:r>
                    </a:p>
                  </a:txBody>
                  <a:tcPr anchor="ctr" marT="25400" marB="25400">
                    <a:solidFill>
                      <a:srgbClr val="262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Real, inverted</a:t>
                      </a:r>
                    </a:p>
                  </a:txBody>
                  <a:tcPr anchor="ctr" marT="25400" marB="25400">
                    <a:solidFill>
                      <a:srgbClr val="26262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At focus F₁</a:t>
                      </a:r>
                    </a:p>
                  </a:txBody>
                  <a:tcPr anchor="ctr" marT="25400" marB="25400">
                    <a:solidFill>
                      <a:srgbClr val="2B2B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At infinity</a:t>
                      </a:r>
                    </a:p>
                  </a:txBody>
                  <a:tcPr anchor="ctr" marT="25400" marB="25400">
                    <a:solidFill>
                      <a:srgbClr val="2B2B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Highly enlarged</a:t>
                      </a:r>
                    </a:p>
                  </a:txBody>
                  <a:tcPr anchor="ctr" marT="25400" marB="25400">
                    <a:solidFill>
                      <a:srgbClr val="2B2B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Real, inverted</a:t>
                      </a:r>
                    </a:p>
                  </a:txBody>
                  <a:tcPr anchor="ctr" marT="25400" marB="25400">
                    <a:solidFill>
                      <a:srgbClr val="2B2B20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Between F₁ and O</a:t>
                      </a:r>
                    </a:p>
                  </a:txBody>
                  <a:tcPr anchor="ctr" marT="25400" marB="25400">
                    <a:solidFill>
                      <a:srgbClr val="262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Same side as object</a:t>
                      </a:r>
                    </a:p>
                  </a:txBody>
                  <a:tcPr anchor="ctr" marT="25400" marB="25400">
                    <a:solidFill>
                      <a:srgbClr val="262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Enlarged</a:t>
                      </a:r>
                    </a:p>
                  </a:txBody>
                  <a:tcPr anchor="ctr" marT="25400" marB="25400">
                    <a:solidFill>
                      <a:srgbClr val="262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Calibri"/>
                        </a:rPr>
                        <a:t>Virtual, erect</a:t>
                      </a:r>
                    </a:p>
                  </a:txBody>
                  <a:tcPr anchor="ctr" marT="25400" marB="25400">
                    <a:solidFill>
                      <a:srgbClr val="2626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Concave Lens — Image 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6675120" cy="4937760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ens_cc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6400800" cy="306786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60920" y="1325880"/>
            <a:ext cx="4279392" cy="4937760"/>
          </a:xfrm>
          <a:prstGeom prst="roundRect">
            <a:avLst>
              <a:gd name="adj" fmla="val 6000"/>
            </a:avLst>
          </a:prstGeom>
          <a:solidFill>
            <a:srgbClr val="33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481328"/>
            <a:ext cx="384048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D7D31"/>
                </a:solidFill>
                <a:latin typeface="Calibri"/>
              </a:rPr>
              <a:t>Always the same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For every object position, a concave lens forms an image that is: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1">
                <a:solidFill>
                  <a:srgbClr val="FFFFFF"/>
                </a:solidFill>
                <a:latin typeface="Calibri"/>
              </a:rPr>
              <a:t>Virtual and erect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1">
                <a:solidFill>
                  <a:srgbClr val="FFFFFF"/>
                </a:solidFill>
                <a:latin typeface="Calibri"/>
              </a:rPr>
              <a:t>Diminished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Between F₁ and the optical centre O, on the same side as the object.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9CCD2"/>
                </a:solidFill>
                <a:latin typeface="Calibri"/>
              </a:rPr>
              <a:t>Used in spectacles to correct myopia (short-sightedness).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Lens Formula &amp; Magnification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507492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Lens formula</a:t>
            </a:r>
          </a:p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1/v − 1/u = 1/f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Magnification</a:t>
            </a:r>
          </a:p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m = h′/h = v/u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9CCD2"/>
                </a:solidFill>
                <a:latin typeface="Calibri"/>
              </a:rPr>
              <a:t>Note the sign difference from the mirror formula (− vs +).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6000"/>
            </a:avLst>
          </a:prstGeom>
          <a:solidFill>
            <a:srgbClr val="2B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Sign convention (lenses)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Convex lens: f is +ve.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Concave lens: f is −ve.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m +ve → virtual &amp; erect;  m −ve → real &amp; inverted.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C9CCD2"/>
                </a:solidFill>
                <a:latin typeface="Calibri"/>
              </a:rPr>
              <a:t>Distances measured from the optical centre 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Power of a Lens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507492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Definition</a:t>
            </a:r>
          </a:p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Cambria Math"/>
              </a:rPr>
              <a:t>P = 1 / f  (f in metres)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SI unit: dioptre (D). 1 D = power of a lens of focal length 1 m.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D166"/>
                </a:solidFill>
                <a:latin typeface="Calibri"/>
              </a:rPr>
              <a:t>Sign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Convex lens → +ve power; concave lens → −ve power.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6000"/>
            </a:avLst>
          </a:prstGeom>
          <a:solidFill>
            <a:srgbClr val="2B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Lenses in combination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Cambria Math"/>
              </a:rPr>
              <a:t>P = P₁ + P₂ + P₃ + …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Powers of thin lenses in contact simply add.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Important Result: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 shorter focal length means a higher power (more converging/diverging).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Worked Example — Convex Lens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6675120" cy="4937760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640080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4B82E"/>
                </a:solidFill>
                <a:latin typeface="Calibri"/>
              </a:rPr>
              <a:t>Problem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An object is placed 20 cm in front of a convex lens of focal length 10 cm. Find v, magnification and power.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F4B82E"/>
                </a:solidFill>
                <a:latin typeface="Calibri"/>
              </a:rPr>
              <a:t>Solution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mbria Math"/>
              </a:rPr>
              <a:t>u = −20 cm,  f = +10 cm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mbria Math"/>
              </a:rPr>
              <a:t>1/v = 1/f + 1/u = 1/10 − 1/20 = 1/20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D166"/>
                </a:solidFill>
                <a:latin typeface="Cambria Math"/>
              </a:rPr>
              <a:t>v = +20 cm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mbria Math"/>
              </a:rPr>
              <a:t>m = v/u = 20 / (−20) = −1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mbria Math"/>
              </a:rPr>
              <a:t>P = 1/f = 1/0.10 = +10 D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Image: 20 cm on the far side, real, inverted, same size.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325880"/>
            <a:ext cx="4462272" cy="4937760"/>
          </a:xfrm>
          <a:prstGeom prst="roundRect">
            <a:avLst>
              <a:gd name="adj" fmla="val 6000"/>
            </a:avLst>
          </a:prstGeom>
          <a:solidFill>
            <a:srgbClr val="1F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481328"/>
            <a:ext cx="402336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4B82E"/>
                </a:solidFill>
                <a:latin typeface="Calibri"/>
              </a:rPr>
              <a:t>Checkpoints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Object at 2F₁ (20 cm) → image at 2F₂ (20 cm). ✓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v +ve → real image on the opposite side. ✓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m = −1 → inverted, same size. ✓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Important Results &amp; Common Traps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6000"/>
            </a:avLst>
          </a:prstGeom>
          <a:solidFill>
            <a:srgbClr val="2B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507492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Must-know results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R = 2f for spherical mirrors.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n = c/v; larger n → slower light, optically denser.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Concave lens &amp; convex mirror ALWAYS give virtual, erect, diminished images.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• </a:t>
            </a:r>
            <a:r>
              <a:rPr sz="1400" b="0">
                <a:solidFill>
                  <a:srgbClr val="FFFFFF"/>
                </a:solidFill>
                <a:latin typeface="Calibri"/>
              </a:rPr>
              <a:t>Power P = 1/f(m), unit dioptre; powers add in contact.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6000"/>
            </a:avLst>
          </a:prstGeom>
          <a:solidFill>
            <a:srgbClr val="33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D7D31"/>
                </a:solidFill>
                <a:latin typeface="Calibri"/>
              </a:rPr>
              <a:t>Common traps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Trap 1</a:t>
            </a:r>
            <a:r>
              <a:rPr sz="1400" b="0">
                <a:solidFill>
                  <a:srgbClr val="FFFFFF"/>
                </a:solidFill>
                <a:latin typeface="Calibri"/>
              </a:rPr>
              <a:t>  Mirror formula uses +, lens formula uses −. Don't mix them.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Trap 2</a:t>
            </a:r>
            <a:r>
              <a:rPr sz="1400" b="0">
                <a:solidFill>
                  <a:srgbClr val="FFFFFF"/>
                </a:solidFill>
                <a:latin typeface="Calibri"/>
              </a:rPr>
              <a:t>  Apply signs BEFORE substituting, not after.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Trap 3</a:t>
            </a:r>
            <a:r>
              <a:rPr sz="1400" b="0">
                <a:solidFill>
                  <a:srgbClr val="FFFFFF"/>
                </a:solidFill>
                <a:latin typeface="Calibri"/>
              </a:rPr>
              <a:t>  f in metres for power — 20 cm = 0.2 m → P = 5 D.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D166"/>
                </a:solidFill>
                <a:latin typeface="Calibri"/>
              </a:rPr>
              <a:t>Trap 4</a:t>
            </a:r>
            <a:r>
              <a:rPr sz="1400" b="0">
                <a:solidFill>
                  <a:srgbClr val="FFFFFF"/>
                </a:solidFill>
                <a:latin typeface="Calibri"/>
              </a:rPr>
              <a:t>  In a glass slab the ray is NOT reversed — it is shifted.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1106424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4B82E"/>
                </a:solidFill>
                <a:latin typeface="Arial Black"/>
              </a:rPr>
              <a:t>60-Second Recall  &amp;  Quick-Fire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532120" cy="4937760"/>
          </a:xfrm>
          <a:prstGeom prst="roundRect">
            <a:avLst>
              <a:gd name="adj" fmla="val 6000"/>
            </a:avLst>
          </a:prstGeom>
          <a:solidFill>
            <a:srgbClr val="26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507492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60-Second Recall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FFD166"/>
                </a:solidFill>
                <a:latin typeface="Calibri"/>
              </a:rPr>
              <a:t>• </a:t>
            </a:r>
            <a:r>
              <a:rPr sz="1350" b="0">
                <a:solidFill>
                  <a:srgbClr val="FFFFFF"/>
                </a:solidFill>
                <a:latin typeface="Calibri"/>
              </a:rPr>
              <a:t>∠i = ∠r (reflection); sin i / sin r = n (refraction).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FFD166"/>
                </a:solidFill>
                <a:latin typeface="Calibri"/>
              </a:rPr>
              <a:t>• </a:t>
            </a:r>
            <a:r>
              <a:rPr sz="1350" b="0">
                <a:solidFill>
                  <a:srgbClr val="FFFFFF"/>
                </a:solidFill>
                <a:latin typeface="Calibri"/>
              </a:rPr>
              <a:t>R = 2f. Mirror: 1/v + 1/u = 1/f. Lens: 1/v − 1/u = 1/f.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FFD166"/>
                </a:solidFill>
                <a:latin typeface="Calibri"/>
              </a:rPr>
              <a:t>• </a:t>
            </a:r>
            <a:r>
              <a:rPr sz="1350" b="0">
                <a:solidFill>
                  <a:srgbClr val="FFFFFF"/>
                </a:solidFill>
                <a:latin typeface="Calibri"/>
              </a:rPr>
              <a:t>m = −v/u (mirror);  m = v/u (lens).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FFD166"/>
                </a:solidFill>
                <a:latin typeface="Calibri"/>
              </a:rPr>
              <a:t>• </a:t>
            </a:r>
            <a:r>
              <a:rPr sz="1350" b="0">
                <a:solidFill>
                  <a:srgbClr val="FFFFFF"/>
                </a:solidFill>
                <a:latin typeface="Calibri"/>
              </a:rPr>
              <a:t>Concave mirror / convex lens can give real or virtual images.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FFD166"/>
                </a:solidFill>
                <a:latin typeface="Calibri"/>
              </a:rPr>
              <a:t>• </a:t>
            </a:r>
            <a:r>
              <a:rPr sz="1350" b="0">
                <a:solidFill>
                  <a:srgbClr val="FFFFFF"/>
                </a:solidFill>
                <a:latin typeface="Calibri"/>
              </a:rPr>
              <a:t>Convex mirror / concave lens → always virtual, erect, small.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FFD166"/>
                </a:solidFill>
                <a:latin typeface="Calibri"/>
              </a:rPr>
              <a:t>• </a:t>
            </a:r>
            <a:r>
              <a:rPr sz="1350" b="0">
                <a:solidFill>
                  <a:srgbClr val="FFFFFF"/>
                </a:solidFill>
                <a:latin typeface="Calibri"/>
              </a:rPr>
              <a:t>P = 1/f (m), in dioptre (D).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5330952" cy="4937760"/>
          </a:xfrm>
          <a:prstGeom prst="roundRect">
            <a:avLst>
              <a:gd name="adj" fmla="val 6000"/>
            </a:avLst>
          </a:prstGeom>
          <a:solidFill>
            <a:srgbClr val="2B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481328"/>
            <a:ext cx="4892040" cy="4663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4B82E"/>
                </a:solidFill>
                <a:latin typeface="Calibri"/>
              </a:rPr>
              <a:t>Quick-Fire Questions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1. Which mirror is used as a car rear-view mirror?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2. Where is the image when an object is at C of a concave mirror?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3. State the unit of power of a lens.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4. A lens has f = −25 cm. Find its power.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5. Speed of light in glass (n = 1.5)?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D166"/>
                </a:solidFill>
                <a:latin typeface="Calibri"/>
              </a:rPr>
              <a:t>Answers: 1) convex  2) at C, real inverted same-size  3) dioptre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FD166"/>
                </a:solidFill>
                <a:latin typeface="Calibri"/>
              </a:rPr>
              <a:t>4) −4 D   5) 2 × 10⁸ m/s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R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0664" y="2121408"/>
            <a:ext cx="10698480" cy="2606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8000" b="1">
                <a:solidFill>
                  <a:srgbClr val="F4B82E"/>
                </a:solidFill>
                <a:latin typeface="Arial Black"/>
              </a:rPr>
              <a:t>THANK</a:t>
            </a:r>
          </a:p>
          <a:p>
            <a:pPr algn="ctr">
              <a:spcAft>
                <a:spcPts val="0"/>
              </a:spcAft>
            </a:pPr>
            <a:r>
              <a:rPr sz="8000" b="1">
                <a:solidFill>
                  <a:srgbClr val="F4B82E"/>
                </a:solidFill>
                <a:latin typeface="Arial Black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